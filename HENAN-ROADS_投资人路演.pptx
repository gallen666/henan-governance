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36576" cy="57607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12880" y="548640"/>
            <a:ext cx="36576" cy="57607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914400"/>
            <a:ext cx="457200" cy="457200"/>
          </a:xfrm>
          <a:prstGeom prst="ellipse">
            <a:avLst/>
          </a:prstGeom>
          <a:solidFill>
            <a:srgbClr val="B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914400"/>
            <a:ext cx="731520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400" b="1">
                <a:solidFill>
                  <a:srgbClr val="C9A063"/>
                </a:solidFill>
                <a:latin typeface="微软雅黑"/>
              </a:rPr>
              <a:t>HENAN-ROADS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097280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Georgia"/>
              </a:rPr>
              <a:t>HENAN-ROADS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微软雅黑"/>
              </a:rPr>
              <a:t>高效能治理交互模拟系统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500" b="0">
                <a:solidFill>
                  <a:srgbClr val="C9A063"/>
                </a:solidFill>
                <a:latin typeface="微软雅黑"/>
              </a:rPr>
              <a:t>把 MIT 系统动力学 · 港理工 ISUI 智慧城市指数 · AI 治理诊断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2628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500" b="1">
                <a:solidFill>
                  <a:srgbClr val="C9A063"/>
                </a:solidFill>
                <a:latin typeface="微软雅黑"/>
              </a:rPr>
              <a:t>装进一个交互沙盘的「政府决策推演 SaaS」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989320"/>
            <a:ext cx="11064240" cy="36576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Seed Round · 1500 万人民币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126480"/>
            <a:ext cx="52120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</a:rPr>
              <a:t>2026 · 投资人路演 · 机密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微软雅黑"/>
              </a:rPr>
              <a:t>HENAN-ROADS · Investor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718096"/>
                </a:solidFill>
                <a:latin typeface="微软雅黑"/>
              </a:rPr>
              <a:t>02 / 18</a:t>
            </a:r>
          </a:p>
        </p:txBody>
      </p:sp>
      <p:sp>
        <p:nvSpPr>
          <p:cNvPr id="5" name="Oval 4"/>
          <p:cNvSpPr/>
          <p:nvPr/>
        </p:nvSpPr>
        <p:spPr>
          <a:xfrm>
            <a:off x="182880" y="292608"/>
            <a:ext cx="109728" cy="109728"/>
          </a:xfrm>
          <a:prstGeom prst="ellipse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B8232F"/>
                </a:solidFill>
                <a:latin typeface="微软雅黑"/>
              </a:rPr>
              <a:t>问题 ·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微软雅黑"/>
              </a:rPr>
              <a:t>县市政府每年烧 2000 亿做数字治理，三个死结无解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457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874519"/>
            <a:ext cx="112471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2468880" cy="10058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3000" b="1">
                <a:solidFill>
                  <a:srgbClr val="B8232F"/>
                </a:solidFill>
                <a:latin typeface="Georgia"/>
              </a:rPr>
              <a:t>2,000 亿+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2057400"/>
            <a:ext cx="18288" cy="64008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993392"/>
            <a:ext cx="80467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400" b="0">
                <a:solidFill>
                  <a:srgbClr val="1A202C"/>
                </a:solidFill>
                <a:latin typeface="微软雅黑"/>
              </a:rPr>
              <a:t>每年中国县市政府在「数字政府 + 基层治理现代化」上的投入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395728"/>
            <a:ext cx="804672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C53030"/>
                </a:solidFill>
                <a:latin typeface="微软雅黑"/>
              </a:rPr>
              <a:t>其中保守估计 800 亿因「低效投资 + 政绩误判」而浪费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08960"/>
            <a:ext cx="361188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108960"/>
            <a:ext cx="3611880" cy="73152"/>
          </a:xfrm>
          <a:prstGeom prst="rect">
            <a:avLst/>
          </a:prstGeom>
          <a:solidFill>
            <a:srgbClr val="B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37560"/>
            <a:ext cx="54864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600" b="1">
                <a:solidFill>
                  <a:srgbClr val="C9A063"/>
                </a:solidFill>
                <a:latin typeface="Georgia"/>
              </a:rPr>
              <a:t>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77640"/>
            <a:ext cx="30632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  <a:latin typeface="微软雅黑"/>
              </a:rPr>
              <a:t>决策没沙盘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26280"/>
            <a:ext cx="3063240" cy="11887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1A202C"/>
                </a:solidFill>
                <a:latin typeface="微软雅黑"/>
              </a:rPr>
              <a:t>18 项政策杠杆怎么联动、推几年生效？目前只能拍脑袋。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806440"/>
            <a:ext cx="3063240" cy="18288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897880"/>
            <a:ext cx="3063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718096"/>
                </a:solidFill>
                <a:latin typeface="微软雅黑"/>
              </a:rPr>
              <a:t>市长 / 县长决策时缺工具、缺方法、缺数据基线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108960"/>
            <a:ext cx="361188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108960"/>
            <a:ext cx="3611880" cy="73152"/>
          </a:xfrm>
          <a:prstGeom prst="rect">
            <a:avLst/>
          </a:prstGeom>
          <a:solidFill>
            <a:srgbClr val="B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337560"/>
            <a:ext cx="54864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600" b="1">
                <a:solidFill>
                  <a:srgbClr val="C9A063"/>
                </a:solidFill>
                <a:latin typeface="Georgia"/>
              </a:rPr>
              <a:t>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977640"/>
            <a:ext cx="30632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  <a:latin typeface="微软雅黑"/>
              </a:rPr>
              <a:t>满意度滞后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526280"/>
            <a:ext cx="3063240" cy="11887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1A202C"/>
                </a:solidFill>
                <a:latin typeface="微软雅黑"/>
              </a:rPr>
              <a:t>群众满意度年度调研一次，等数据回来时舆情已经爆了。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80" y="5806440"/>
            <a:ext cx="3063240" cy="18288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5897880"/>
            <a:ext cx="3063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718096"/>
                </a:solidFill>
                <a:latin typeface="微软雅黑"/>
              </a:rPr>
              <a:t>传统抽样方法 6 个月延迟，舆情应对永远晚一步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108960"/>
            <a:ext cx="361188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3108960"/>
            <a:ext cx="3611880" cy="73152"/>
          </a:xfrm>
          <a:prstGeom prst="rect">
            <a:avLst/>
          </a:prstGeom>
          <a:solidFill>
            <a:srgbClr val="B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3337560"/>
            <a:ext cx="54864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600" b="1">
                <a:solidFill>
                  <a:srgbClr val="C9A063"/>
                </a:solidFill>
                <a:latin typeface="Georgia"/>
              </a:rPr>
              <a:t>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977640"/>
            <a:ext cx="30632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  <a:latin typeface="微软雅黑"/>
              </a:rPr>
              <a:t>干部不会用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526280"/>
            <a:ext cx="3063240" cy="11887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1A202C"/>
                </a:solidFill>
                <a:latin typeface="微软雅黑"/>
              </a:rPr>
              <a:t>买一堆驾驶舱大屏，但科级以下根本看不懂、用不动。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5806440"/>
            <a:ext cx="3063240" cy="18288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5897880"/>
            <a:ext cx="3063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718096"/>
                </a:solidFill>
                <a:latin typeface="微软雅黑"/>
              </a:rPr>
              <a:t>数字政府变成「领导参观项目」，落不到决策流程里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微软雅黑"/>
              </a:rPr>
              <a:t>HENAN-ROADS · Investor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718096"/>
                </a:solidFill>
                <a:latin typeface="微软雅黑"/>
              </a:rPr>
              <a:t>03 / 18</a:t>
            </a:r>
          </a:p>
        </p:txBody>
      </p:sp>
      <p:sp>
        <p:nvSpPr>
          <p:cNvPr id="5" name="Oval 4"/>
          <p:cNvSpPr/>
          <p:nvPr/>
        </p:nvSpPr>
        <p:spPr>
          <a:xfrm>
            <a:off x="182880" y="292608"/>
            <a:ext cx="109728" cy="109728"/>
          </a:xfrm>
          <a:prstGeom prst="ellipse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B8232F"/>
                </a:solidFill>
                <a:latin typeface="微软雅黑"/>
              </a:rPr>
              <a:t>解决方案 · 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微软雅黑"/>
              </a:rPr>
              <a:t>「政府版 En-ROADS」+「ISUI 智慧城市指数」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457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1874519"/>
            <a:ext cx="594360" cy="59436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59436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C9A063"/>
                </a:solidFill>
                <a:latin typeface="Georgi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920239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微软雅黑"/>
              </a:rPr>
              <a:t>政策沙盘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58567"/>
            <a:ext cx="52120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  <a:latin typeface="微软雅黑"/>
              </a:rPr>
              <a:t>18 杠杆 + 4 反馈环 · 10 秒推演 5-10 年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743199"/>
            <a:ext cx="594360" cy="59436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43199"/>
            <a:ext cx="59436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C9A063"/>
                </a:solidFill>
                <a:latin typeface="Georgi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788919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微软雅黑"/>
              </a:rPr>
              <a:t>ISUI 指数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127247"/>
            <a:ext cx="52120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  <a:latin typeface="微软雅黑"/>
              </a:rPr>
              <a:t>6 维 / 18 子 · 与香港 / 北京基准实时对标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611879"/>
            <a:ext cx="594360" cy="59436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611879"/>
            <a:ext cx="59436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C9A063"/>
                </a:solidFill>
                <a:latin typeface="Georgi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657599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微软雅黑"/>
              </a:rPr>
              <a:t>满意度指数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995927"/>
            <a:ext cx="52120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  <a:latin typeface="微软雅黑"/>
              </a:rPr>
              <a:t>5/15/225 三级指标 · 季度颗粒 · 早 6 周预警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480558"/>
            <a:ext cx="594360" cy="59436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480558"/>
            <a:ext cx="59436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C9A063"/>
                </a:solidFill>
                <a:latin typeface="Georgia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526278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微软雅黑"/>
              </a:rPr>
              <a:t>AI 治理诊断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864606"/>
            <a:ext cx="52120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  <a:latin typeface="微软雅黑"/>
              </a:rPr>
              <a:t>城市起源理论 + AHP · 自动建议 + 生成汇报稿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5349239"/>
            <a:ext cx="594360" cy="59436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349239"/>
            <a:ext cx="59436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C9A063"/>
                </a:solidFill>
                <a:latin typeface="Georgia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394959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微软雅黑"/>
              </a:rPr>
              <a:t>工作坊导览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733287"/>
            <a:ext cx="52120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  <a:latin typeface="微软雅黑"/>
              </a:rPr>
              <a:t>3 小时让一群干部上手 · 大屏不再摆设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1874519"/>
            <a:ext cx="4846320" cy="420624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2240279"/>
            <a:ext cx="4114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C9A063"/>
                </a:solidFill>
                <a:latin typeface="微软雅黑"/>
              </a:rPr>
              <a:t>已建工作产品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2651759"/>
            <a:ext cx="411480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Georgia"/>
              </a:rPr>
              <a:t>10 大栏目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3657599"/>
            <a:ext cx="4114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首页 / 政策沙盘 / 方法论 / 论文拆解 / 案例库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977639"/>
            <a:ext cx="4114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调查问卷 / AI 诊断 / 智慧城市指数 / 工作坊 / 关于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0" y="4480559"/>
            <a:ext cx="4114800" cy="18288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3760" y="4663439"/>
            <a:ext cx="41148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C9A063"/>
                </a:solidFill>
                <a:latin typeface="微软雅黑"/>
              </a:rPr>
              <a:t>在线 Demo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4937759"/>
            <a:ext cx="4114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gallen666.github.io/henan-governance/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394959"/>
            <a:ext cx="132588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C9A063"/>
                </a:solidFill>
                <a:latin typeface="Georgia"/>
              </a:rPr>
              <a:t>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5760719"/>
            <a:ext cx="13258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政策杠杆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1080" y="5394959"/>
            <a:ext cx="132588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C9A063"/>
                </a:solidFill>
                <a:latin typeface="Georgia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80" y="5760719"/>
            <a:ext cx="13258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反馈环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5394959"/>
            <a:ext cx="132588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C9A063"/>
                </a:solidFill>
                <a:latin typeface="Georgia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5760719"/>
            <a:ext cx="13258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ISUI 维度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微软雅黑"/>
              </a:rPr>
              <a:t>HENAN-ROADS · Investor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718096"/>
                </a:solidFill>
                <a:latin typeface="微软雅黑"/>
              </a:rPr>
              <a:t>04 / 18</a:t>
            </a:r>
          </a:p>
        </p:txBody>
      </p:sp>
      <p:sp>
        <p:nvSpPr>
          <p:cNvPr id="5" name="Oval 4"/>
          <p:cNvSpPr/>
          <p:nvPr/>
        </p:nvSpPr>
        <p:spPr>
          <a:xfrm>
            <a:off x="182880" y="292608"/>
            <a:ext cx="109728" cy="109728"/>
          </a:xfrm>
          <a:prstGeom prst="ellipse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B8232F"/>
                </a:solidFill>
                <a:latin typeface="微软雅黑"/>
              </a:rPr>
              <a:t>时机 · WHY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微软雅黑"/>
              </a:rPr>
              <a:t>三个浪潮同时到达 — 2026-2028 是黄金窗口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457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361188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611880" cy="365760"/>
          </a:xfrm>
          <a:prstGeom prst="rect">
            <a:avLst/>
          </a:prstGeom>
          <a:solidFill>
            <a:srgbClr val="B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7452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74520"/>
            <a:ext cx="24231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WAVE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23160"/>
            <a:ext cx="30632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  <a:latin typeface="微软雅黑"/>
              </a:rPr>
              <a:t>政策浪潮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17520"/>
            <a:ext cx="306324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1A202C"/>
                </a:solidFill>
                <a:latin typeface="微软雅黑"/>
              </a:rPr>
              <a:t>二十大 + 十四五数字政府专项规划进入落地期
县市治理科技投入步入高峰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434840"/>
            <a:ext cx="3063240" cy="18288"/>
          </a:xfrm>
          <a:prstGeom prst="rect">
            <a:avLst/>
          </a:prstGeom>
          <a:solidFill>
            <a:srgbClr val="B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274320" cy="1554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B8232F"/>
                </a:solidFill>
                <a:latin typeface="微软雅黑"/>
              </a:rPr>
              <a:t>▸
▸
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572000"/>
            <a:ext cx="2788920" cy="1554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  <a:latin typeface="微软雅黑"/>
              </a:rPr>
              <a:t>二十大写入党章
国务院专项规划
各省落地节奏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1828800"/>
            <a:ext cx="361188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1828800"/>
            <a:ext cx="3611880" cy="3657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187452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1874520"/>
            <a:ext cx="24231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WAVE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423160"/>
            <a:ext cx="30632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  <a:latin typeface="微软雅黑"/>
              </a:rPr>
              <a:t>技术浪潮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017520"/>
            <a:ext cx="306324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1A202C"/>
                </a:solidFill>
                <a:latin typeface="微软雅黑"/>
              </a:rPr>
              <a:t>DeepSeek / 通义 / 文心 让 AI for Gov
从噱头变成基础设施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80" y="4434840"/>
            <a:ext cx="3063240" cy="1828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4572000"/>
            <a:ext cx="274320" cy="1554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微软雅黑"/>
              </a:rPr>
              <a:t>▸
▸
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572000"/>
            <a:ext cx="2788920" cy="1554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  <a:latin typeface="微软雅黑"/>
              </a:rPr>
              <a:t>县级算力下沉
国产大模型成熟
本地化部署可行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828800"/>
            <a:ext cx="361188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1828800"/>
            <a:ext cx="3611880" cy="36576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87452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1874520"/>
            <a:ext cx="24231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WAVE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423160"/>
            <a:ext cx="30632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  <a:latin typeface="微软雅黑"/>
              </a:rPr>
              <a:t>代际浪潮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017520"/>
            <a:ext cx="306324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1A202C"/>
                </a:solidFill>
                <a:latin typeface="微软雅黑"/>
              </a:rPr>
              <a:t>80 后市长开始当家
要数据 / 要可视化 / 要可推演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4434840"/>
            <a:ext cx="3063240" cy="18288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4572000"/>
            <a:ext cx="274320" cy="1554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C9A063"/>
                </a:solidFill>
                <a:latin typeface="微软雅黑"/>
              </a:rPr>
              <a:t>▸
▸
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4572000"/>
            <a:ext cx="2788920" cy="1554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  <a:latin typeface="微软雅黑"/>
              </a:rPr>
              <a:t>不再接受 PDF 汇报
青年干部主导
推演驱动决策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微软雅黑"/>
              </a:rPr>
              <a:t>HENAN-ROADS · Investor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718096"/>
                </a:solidFill>
                <a:latin typeface="微软雅黑"/>
              </a:rPr>
              <a:t>05 / 18</a:t>
            </a:r>
          </a:p>
        </p:txBody>
      </p:sp>
      <p:sp>
        <p:nvSpPr>
          <p:cNvPr id="5" name="Oval 4"/>
          <p:cNvSpPr/>
          <p:nvPr/>
        </p:nvSpPr>
        <p:spPr>
          <a:xfrm>
            <a:off x="182880" y="292608"/>
            <a:ext cx="109728" cy="109728"/>
          </a:xfrm>
          <a:prstGeom prst="ellipse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B8232F"/>
                </a:solidFill>
                <a:latin typeface="微软雅黑"/>
              </a:rPr>
              <a:t>产品 ·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微软雅黑"/>
              </a:rPr>
              <a:t>产品全景 · 一个 SaaS 平台覆盖 5 个治理工作流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457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783080"/>
            <a:ext cx="1828800" cy="96012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1828800" cy="9601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用户层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1783080"/>
            <a:ext cx="2194560" cy="960120"/>
          </a:xfrm>
          <a:prstGeom prst="roundRect">
            <a:avLst>
              <a:gd name="adj" fmla="val 6000"/>
            </a:avLst>
          </a:prstGeom>
          <a:solidFill>
            <a:srgbClr val="F5F2EC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1783080"/>
            <a:ext cx="2194560" cy="9601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1A202C"/>
                </a:solidFill>
                <a:latin typeface="微软雅黑"/>
              </a:rPr>
              <a:t>市长 / 县长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1783080"/>
            <a:ext cx="2194560" cy="960120"/>
          </a:xfrm>
          <a:prstGeom prst="roundRect">
            <a:avLst>
              <a:gd name="adj" fmla="val 6000"/>
            </a:avLst>
          </a:prstGeom>
          <a:solidFill>
            <a:srgbClr val="F5F2EC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783080"/>
            <a:ext cx="2194560" cy="9601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1A202C"/>
                </a:solidFill>
                <a:latin typeface="微软雅黑"/>
              </a:rPr>
              <a:t>局办主任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1783080"/>
            <a:ext cx="2194560" cy="960120"/>
          </a:xfrm>
          <a:prstGeom prst="roundRect">
            <a:avLst>
              <a:gd name="adj" fmla="val 6000"/>
            </a:avLst>
          </a:prstGeom>
          <a:solidFill>
            <a:srgbClr val="F5F2EC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1783080"/>
            <a:ext cx="2194560" cy="9601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1A202C"/>
                </a:solidFill>
                <a:latin typeface="微软雅黑"/>
              </a:rPr>
              <a:t>干部 / 公务员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1783080"/>
            <a:ext cx="2194560" cy="960120"/>
          </a:xfrm>
          <a:prstGeom prst="roundRect">
            <a:avLst>
              <a:gd name="adj" fmla="val 6000"/>
            </a:avLst>
          </a:prstGeom>
          <a:solidFill>
            <a:srgbClr val="F5F2EC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783080"/>
            <a:ext cx="2194560" cy="9601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1A202C"/>
                </a:solidFill>
                <a:latin typeface="微软雅黑"/>
              </a:rPr>
              <a:t>学者 / 学生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880360"/>
            <a:ext cx="1828800" cy="960120"/>
          </a:xfrm>
          <a:prstGeom prst="roundRect">
            <a:avLst>
              <a:gd name="adj" fmla="val 6000"/>
            </a:avLst>
          </a:prstGeom>
          <a:solidFill>
            <a:srgbClr val="B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880360"/>
            <a:ext cx="1828800" cy="9601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应用层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68880" y="2880360"/>
            <a:ext cx="1737360" cy="960120"/>
          </a:xfrm>
          <a:prstGeom prst="roundRect">
            <a:avLst>
              <a:gd name="adj" fmla="val 6000"/>
            </a:avLst>
          </a:prstGeom>
          <a:solidFill>
            <a:srgbClr val="FAF8F2"/>
          </a:solidFill>
          <a:ln w="6350">
            <a:solidFill>
              <a:srgbClr val="B82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68880" y="2880360"/>
            <a:ext cx="1737360" cy="9601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1A202C"/>
                </a:solidFill>
                <a:latin typeface="微软雅黑"/>
              </a:rPr>
              <a:t>政策沙盘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2880360"/>
            <a:ext cx="1737360" cy="960120"/>
          </a:xfrm>
          <a:prstGeom prst="roundRect">
            <a:avLst>
              <a:gd name="adj" fmla="val 6000"/>
            </a:avLst>
          </a:prstGeom>
          <a:solidFill>
            <a:srgbClr val="FAF8F2"/>
          </a:solidFill>
          <a:ln w="6350">
            <a:solidFill>
              <a:srgbClr val="B82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2880360"/>
            <a:ext cx="1737360" cy="9601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1A202C"/>
                </a:solidFill>
                <a:latin typeface="微软雅黑"/>
              </a:rPr>
              <a:t>AI 诊断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2880360"/>
            <a:ext cx="1737360" cy="960120"/>
          </a:xfrm>
          <a:prstGeom prst="roundRect">
            <a:avLst>
              <a:gd name="adj" fmla="val 6000"/>
            </a:avLst>
          </a:prstGeom>
          <a:solidFill>
            <a:srgbClr val="FAF8F2"/>
          </a:solidFill>
          <a:ln w="6350">
            <a:solidFill>
              <a:srgbClr val="B82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2880360"/>
            <a:ext cx="1737360" cy="9601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1A202C"/>
                </a:solidFill>
                <a:latin typeface="微软雅黑"/>
              </a:rPr>
              <a:t>ISUI 指数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2880360"/>
            <a:ext cx="1737360" cy="960120"/>
          </a:xfrm>
          <a:prstGeom prst="roundRect">
            <a:avLst>
              <a:gd name="adj" fmla="val 6000"/>
            </a:avLst>
          </a:prstGeom>
          <a:solidFill>
            <a:srgbClr val="FAF8F2"/>
          </a:solidFill>
          <a:ln w="6350">
            <a:solidFill>
              <a:srgbClr val="B82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2880360"/>
            <a:ext cx="1737360" cy="9601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1A202C"/>
                </a:solidFill>
                <a:latin typeface="微软雅黑"/>
              </a:rPr>
              <a:t>满意度问卷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84080" y="2880360"/>
            <a:ext cx="1737360" cy="960120"/>
          </a:xfrm>
          <a:prstGeom prst="roundRect">
            <a:avLst>
              <a:gd name="adj" fmla="val 6000"/>
            </a:avLst>
          </a:prstGeom>
          <a:solidFill>
            <a:srgbClr val="FAF8F2"/>
          </a:solidFill>
          <a:ln w="6350">
            <a:solidFill>
              <a:srgbClr val="B82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2880360"/>
            <a:ext cx="1737360" cy="9601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1A202C"/>
                </a:solidFill>
                <a:latin typeface="微软雅黑"/>
              </a:rPr>
              <a:t>工作坊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977640"/>
            <a:ext cx="1828800" cy="960120"/>
          </a:xfrm>
          <a:prstGeom prst="roundRect">
            <a:avLst>
              <a:gd name="adj" fmla="val 6000"/>
            </a:avLst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977640"/>
            <a:ext cx="1828800" cy="9601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引擎层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68880" y="3977640"/>
            <a:ext cx="2194560" cy="960120"/>
          </a:xfrm>
          <a:prstGeom prst="roundRect">
            <a:avLst>
              <a:gd name="adj" fmla="val 6000"/>
            </a:avLst>
          </a:prstGeom>
          <a:solidFill>
            <a:srgbClr val="FAF8F2"/>
          </a:solidFill>
          <a:ln w="635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68880" y="3977640"/>
            <a:ext cx="2194560" cy="9601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1A202C"/>
                </a:solidFill>
                <a:latin typeface="微软雅黑"/>
              </a:rPr>
              <a:t>系统动力学引擎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0" y="3977640"/>
            <a:ext cx="2194560" cy="960120"/>
          </a:xfrm>
          <a:prstGeom prst="roundRect">
            <a:avLst>
              <a:gd name="adj" fmla="val 6000"/>
            </a:avLst>
          </a:prstGeom>
          <a:solidFill>
            <a:srgbClr val="FAF8F2"/>
          </a:solidFill>
          <a:ln w="635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0" y="3977640"/>
            <a:ext cx="2194560" cy="9601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1A202C"/>
                </a:solidFill>
                <a:latin typeface="微软雅黑"/>
              </a:rPr>
              <a:t>AHP 权重模型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40880" y="3977640"/>
            <a:ext cx="2194560" cy="960120"/>
          </a:xfrm>
          <a:prstGeom prst="roundRect">
            <a:avLst>
              <a:gd name="adj" fmla="val 6000"/>
            </a:avLst>
          </a:prstGeom>
          <a:solidFill>
            <a:srgbClr val="FAF8F2"/>
          </a:solidFill>
          <a:ln w="635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0" y="3977640"/>
            <a:ext cx="2194560" cy="9601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1A202C"/>
                </a:solidFill>
                <a:latin typeface="微软雅黑"/>
              </a:rPr>
              <a:t>城市起源理论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26880" y="3977640"/>
            <a:ext cx="2194560" cy="960120"/>
          </a:xfrm>
          <a:prstGeom prst="roundRect">
            <a:avLst>
              <a:gd name="adj" fmla="val 6000"/>
            </a:avLst>
          </a:prstGeom>
          <a:solidFill>
            <a:srgbClr val="FAF8F2"/>
          </a:solidFill>
          <a:ln w="635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0" y="3977640"/>
            <a:ext cx="2194560" cy="9601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1A202C"/>
                </a:solidFill>
                <a:latin typeface="微软雅黑"/>
              </a:rPr>
              <a:t>国产 LLM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074919"/>
            <a:ext cx="1828800" cy="96012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074919"/>
            <a:ext cx="1828800" cy="9601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数据层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468880" y="5074919"/>
            <a:ext cx="2194560" cy="960120"/>
          </a:xfrm>
          <a:prstGeom prst="roundRect">
            <a:avLst>
              <a:gd name="adj" fmla="val 6000"/>
            </a:avLst>
          </a:prstGeom>
          <a:solidFill>
            <a:srgbClr val="F5F2EC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68880" y="5074919"/>
            <a:ext cx="2194560" cy="9601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1A202C"/>
                </a:solidFill>
                <a:latin typeface="微软雅黑"/>
              </a:rPr>
              <a:t>河南调研基线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754880" y="5074919"/>
            <a:ext cx="2194560" cy="960120"/>
          </a:xfrm>
          <a:prstGeom prst="roundRect">
            <a:avLst>
              <a:gd name="adj" fmla="val 6000"/>
            </a:avLst>
          </a:prstGeom>
          <a:solidFill>
            <a:srgbClr val="F5F2EC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54880" y="5074919"/>
            <a:ext cx="2194560" cy="9601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1A202C"/>
                </a:solidFill>
                <a:latin typeface="微软雅黑"/>
              </a:rPr>
              <a:t>ISUI 全国基准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040880" y="5074919"/>
            <a:ext cx="2194560" cy="960120"/>
          </a:xfrm>
          <a:prstGeom prst="roundRect">
            <a:avLst>
              <a:gd name="adj" fmla="val 6000"/>
            </a:avLst>
          </a:prstGeom>
          <a:solidFill>
            <a:srgbClr val="F5F2EC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40880" y="5074919"/>
            <a:ext cx="2194560" cy="9601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1A202C"/>
                </a:solidFill>
                <a:latin typeface="微软雅黑"/>
              </a:rPr>
              <a:t>政府公开数据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326880" y="5074919"/>
            <a:ext cx="2194560" cy="960120"/>
          </a:xfrm>
          <a:prstGeom prst="roundRect">
            <a:avLst>
              <a:gd name="adj" fmla="val 6000"/>
            </a:avLst>
          </a:prstGeom>
          <a:solidFill>
            <a:srgbClr val="F5F2EC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26880" y="5074919"/>
            <a:ext cx="2194560" cy="9601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1A202C"/>
                </a:solidFill>
                <a:latin typeface="微软雅黑"/>
              </a:rPr>
              <a:t>舆情接入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微软雅黑"/>
              </a:rPr>
              <a:t>HENAN-ROADS · Investor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718096"/>
                </a:solidFill>
                <a:latin typeface="微软雅黑"/>
              </a:rPr>
              <a:t>06 / 18</a:t>
            </a:r>
          </a:p>
        </p:txBody>
      </p:sp>
      <p:sp>
        <p:nvSpPr>
          <p:cNvPr id="5" name="Oval 4"/>
          <p:cNvSpPr/>
          <p:nvPr/>
        </p:nvSpPr>
        <p:spPr>
          <a:xfrm>
            <a:off x="182880" y="292608"/>
            <a:ext cx="109728" cy="109728"/>
          </a:xfrm>
          <a:prstGeom prst="ellipse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B8232F"/>
                </a:solidFill>
                <a:latin typeface="微软雅黑"/>
              </a:rPr>
              <a:t>护城河① · ACADEMIC 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微软雅黑"/>
              </a:rPr>
              <a:t>学术 IP 锚 · 史文中教授 ISUI 智慧城市指数 · 5 年独家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457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874519"/>
            <a:ext cx="4572000" cy="443484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4206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C9A063"/>
                </a:solidFill>
                <a:latin typeface="微软雅黑"/>
              </a:rPr>
              <a:t>学术顾问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23160"/>
            <a:ext cx="420624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史文中 教授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17520"/>
            <a:ext cx="4206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9A063"/>
                </a:solidFill>
                <a:latin typeface="微软雅黑"/>
              </a:rPr>
              <a:t>Prof. Wenzhong SHI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520440"/>
            <a:ext cx="4206240" cy="18288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03320"/>
            <a:ext cx="4206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✦  香港理工大学讲座教授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4206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✦  智慧城市研究院（SCRI）主任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34840"/>
            <a:ext cx="4206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✦  ISPRS 王之卓奖（终身成就奖）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00600"/>
            <a:ext cx="4206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✦  Springer《Urban Informatics》主编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66360"/>
            <a:ext cx="4206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✦  ISUI 体系原创者（2022）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32120"/>
            <a:ext cx="4206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✦  SCI/SSCI 论文 400+ · Citations 25000+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1874519"/>
            <a:ext cx="6400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B8232F"/>
                </a:solidFill>
                <a:latin typeface="微软雅黑"/>
              </a:rPr>
              <a:t>ISUI 6 维评估体系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24028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微软雅黑"/>
              </a:rPr>
              <a:t>Intelligent Smart Urban Index · 已与港理工签署独家合作意向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2697480"/>
            <a:ext cx="30175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862072"/>
            <a:ext cx="640080" cy="640080"/>
          </a:xfrm>
          <a:prstGeom prst="ellipse">
            <a:avLst/>
          </a:prstGeom>
          <a:solidFill>
            <a:srgbClr val="B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862072"/>
            <a:ext cx="64008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I1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834640"/>
            <a:ext cx="20116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  <a:latin typeface="微软雅黑"/>
              </a:rPr>
              <a:t>智慧基础设施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200400"/>
            <a:ext cx="20116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C9A063"/>
                </a:solidFill>
                <a:latin typeface="微软雅黑"/>
              </a:rPr>
              <a:t>权重 20%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410712"/>
            <a:ext cx="20116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微软雅黑"/>
              </a:rPr>
              <a:t>港 92 / 京 85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95360" y="2697480"/>
            <a:ext cx="30175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732520" y="2862072"/>
            <a:ext cx="640080" cy="640080"/>
          </a:xfrm>
          <a:prstGeom prst="ellipse">
            <a:avLst/>
          </a:prstGeom>
          <a:solidFill>
            <a:srgbClr val="B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32520" y="2862072"/>
            <a:ext cx="64008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I2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2834640"/>
            <a:ext cx="20116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  <a:latin typeface="微软雅黑"/>
              </a:rPr>
              <a:t>智慧治理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3200400"/>
            <a:ext cx="20116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C9A063"/>
                </a:solidFill>
                <a:latin typeface="微软雅黑"/>
              </a:rPr>
              <a:t>权重 20%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3410712"/>
            <a:ext cx="20116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微软雅黑"/>
              </a:rPr>
              <a:t>港 88 / 京 90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0" y="3840480"/>
            <a:ext cx="30175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623560" y="4005072"/>
            <a:ext cx="640080" cy="640080"/>
          </a:xfrm>
          <a:prstGeom prst="ellipse">
            <a:avLst/>
          </a:prstGeom>
          <a:solidFill>
            <a:srgbClr val="B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23560" y="4005072"/>
            <a:ext cx="64008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I3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977640"/>
            <a:ext cx="20116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  <a:latin typeface="微软雅黑"/>
              </a:rPr>
              <a:t>智慧经济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343400"/>
            <a:ext cx="20116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C9A063"/>
                </a:solidFill>
                <a:latin typeface="微软雅黑"/>
              </a:rPr>
              <a:t>权重 15%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553712"/>
            <a:ext cx="20116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微软雅黑"/>
              </a:rPr>
              <a:t>港 85 / 京 87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95360" y="3840480"/>
            <a:ext cx="30175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732520" y="4005072"/>
            <a:ext cx="640080" cy="640080"/>
          </a:xfrm>
          <a:prstGeom prst="ellipse">
            <a:avLst/>
          </a:prstGeom>
          <a:solidFill>
            <a:srgbClr val="B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32520" y="4005072"/>
            <a:ext cx="64008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I4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9760" y="3977640"/>
            <a:ext cx="20116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  <a:latin typeface="微软雅黑"/>
              </a:rPr>
              <a:t>智慧人民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0" y="4343400"/>
            <a:ext cx="20116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C9A063"/>
                </a:solidFill>
                <a:latin typeface="微软雅黑"/>
              </a:rPr>
              <a:t>权重 15%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9760" y="4553712"/>
            <a:ext cx="20116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微软雅黑"/>
              </a:rPr>
              <a:t>港 82 / 京 78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0" y="4983480"/>
            <a:ext cx="30175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623560" y="5148072"/>
            <a:ext cx="640080" cy="640080"/>
          </a:xfrm>
          <a:prstGeom prst="ellipse">
            <a:avLst/>
          </a:prstGeom>
          <a:solidFill>
            <a:srgbClr val="B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23560" y="5148072"/>
            <a:ext cx="64008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I5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5120640"/>
            <a:ext cx="20116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  <a:latin typeface="微软雅黑"/>
              </a:rPr>
              <a:t>智慧环境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486400"/>
            <a:ext cx="20116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C9A063"/>
                </a:solidFill>
                <a:latin typeface="微软雅黑"/>
              </a:rPr>
              <a:t>权重 15%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696712"/>
            <a:ext cx="20116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微软雅黑"/>
              </a:rPr>
              <a:t>港 80 / 京 76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595360" y="4983480"/>
            <a:ext cx="30175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32520" y="5148072"/>
            <a:ext cx="640080" cy="640080"/>
          </a:xfrm>
          <a:prstGeom prst="ellipse">
            <a:avLst/>
          </a:prstGeom>
          <a:solidFill>
            <a:srgbClr val="B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32520" y="5148072"/>
            <a:ext cx="64008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I6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09760" y="5120640"/>
            <a:ext cx="20116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  <a:latin typeface="微软雅黑"/>
              </a:rPr>
              <a:t>智慧机动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9760" y="5486400"/>
            <a:ext cx="20116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C9A063"/>
                </a:solidFill>
                <a:latin typeface="微软雅黑"/>
              </a:rPr>
              <a:t>权重 15%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09760" y="5696712"/>
            <a:ext cx="20116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微软雅黑"/>
              </a:rPr>
              <a:t>港 95 / 京 84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微软雅黑"/>
              </a:rPr>
              <a:t>HENAN-ROADS · Investor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718096"/>
                </a:solidFill>
                <a:latin typeface="微软雅黑"/>
              </a:rPr>
              <a:t>07 / 18</a:t>
            </a:r>
          </a:p>
        </p:txBody>
      </p:sp>
      <p:sp>
        <p:nvSpPr>
          <p:cNvPr id="5" name="Oval 4"/>
          <p:cNvSpPr/>
          <p:nvPr/>
        </p:nvSpPr>
        <p:spPr>
          <a:xfrm>
            <a:off x="182880" y="292608"/>
            <a:ext cx="109728" cy="109728"/>
          </a:xfrm>
          <a:prstGeom prst="ellipse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B8232F"/>
                </a:solidFill>
                <a:latin typeface="微软雅黑"/>
              </a:rPr>
              <a:t>护城河② · 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微软雅黑"/>
              </a:rPr>
              <a:t>继承 MIT En-ROADS · 18 杠杆 · 万亿种组合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457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874519"/>
            <a:ext cx="21945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11679"/>
            <a:ext cx="219456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800" b="1">
                <a:solidFill>
                  <a:srgbClr val="B8232F"/>
                </a:solidFill>
                <a:latin typeface="Georgia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59"/>
            <a:ext cx="21945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>
                <a:solidFill>
                  <a:srgbClr val="1E3A5F"/>
                </a:solidFill>
                <a:latin typeface="微软雅黑"/>
              </a:rPr>
              <a:t>政策杠杆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874519"/>
            <a:ext cx="21945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2011679"/>
            <a:ext cx="219456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800" b="1">
                <a:solidFill>
                  <a:srgbClr val="B8232F"/>
                </a:solidFill>
                <a:latin typeface="Georgia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651759"/>
            <a:ext cx="21945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>
                <a:solidFill>
                  <a:srgbClr val="1E3A5F"/>
                </a:solidFill>
                <a:latin typeface="微软雅黑"/>
              </a:rPr>
              <a:t>政策类别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874519"/>
            <a:ext cx="21945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011679"/>
            <a:ext cx="219456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800" b="1">
                <a:solidFill>
                  <a:srgbClr val="B8232F"/>
                </a:solidFill>
                <a:latin typeface="Georg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651759"/>
            <a:ext cx="21945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>
                <a:solidFill>
                  <a:srgbClr val="1E3A5F"/>
                </a:solidFill>
                <a:latin typeface="微软雅黑"/>
              </a:rPr>
              <a:t>反馈回路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1874519"/>
            <a:ext cx="21945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2011679"/>
            <a:ext cx="219456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800" b="1">
                <a:solidFill>
                  <a:srgbClr val="B8232F"/>
                </a:solidFill>
                <a:latin typeface="Georgia"/>
              </a:rPr>
              <a:t>3.8万亿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651759"/>
            <a:ext cx="21945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>
                <a:solidFill>
                  <a:srgbClr val="1E3A5F"/>
                </a:solidFill>
                <a:latin typeface="微软雅黑"/>
              </a:rPr>
              <a:t>组合空间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1874519"/>
            <a:ext cx="21945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2011679"/>
            <a:ext cx="219456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800" b="1">
                <a:solidFill>
                  <a:srgbClr val="B8232F"/>
                </a:solidFill>
                <a:latin typeface="Georg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651759"/>
            <a:ext cx="21945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>
                <a:solidFill>
                  <a:srgbClr val="1E3A5F"/>
                </a:solidFill>
                <a:latin typeface="微软雅黑"/>
              </a:rPr>
              <a:t>档位/杠杆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337560"/>
            <a:ext cx="36118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337560"/>
            <a:ext cx="109728" cy="1280160"/>
          </a:xfrm>
          <a:prstGeom prst="rect">
            <a:avLst/>
          </a:prstGeom>
          <a:solidFill>
            <a:srgbClr val="B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502152"/>
            <a:ext cx="3200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微软雅黑"/>
              </a:rPr>
              <a:t>党建引领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931920"/>
            <a:ext cx="320040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  <a:latin typeface="微软雅黑"/>
              </a:rPr>
              <a:t>组织覆盖 / 思想宣讲 / 纪检监督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3337560"/>
            <a:ext cx="36118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51960" y="3337560"/>
            <a:ext cx="109728" cy="128016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3502152"/>
            <a:ext cx="3200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微软雅黑"/>
              </a:rPr>
              <a:t>网格管理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3931920"/>
            <a:ext cx="320040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  <a:latin typeface="微软雅黑"/>
              </a:rPr>
              <a:t>网格密度 / 网格员素质 / 应急响应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3337560"/>
            <a:ext cx="36118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0" y="3337560"/>
            <a:ext cx="109728" cy="12801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3502152"/>
            <a:ext cx="3200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微软雅黑"/>
              </a:rPr>
              <a:t>城市大脑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931920"/>
            <a:ext cx="320040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  <a:latin typeface="微软雅黑"/>
              </a:rPr>
              <a:t>数据中台 / 城运中心 / 感知设备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754880"/>
            <a:ext cx="36118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4754880"/>
            <a:ext cx="109728" cy="1280160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919472"/>
            <a:ext cx="3200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微软雅黑"/>
              </a:rPr>
              <a:t>协商共治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349240"/>
            <a:ext cx="320040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  <a:latin typeface="微软雅黑"/>
              </a:rPr>
              <a:t>代表议事 / 社会组织 / 志愿者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51960" y="4754880"/>
            <a:ext cx="36118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51960" y="4754880"/>
            <a:ext cx="109728" cy="1280160"/>
          </a:xfrm>
          <a:prstGeom prst="rect">
            <a:avLst/>
          </a:prstGeom>
          <a:solidFill>
            <a:srgbClr val="805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26280" y="4919472"/>
            <a:ext cx="3200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微软雅黑"/>
              </a:rPr>
              <a:t>能力建设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26280" y="5349240"/>
            <a:ext cx="320040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  <a:latin typeface="微软雅黑"/>
              </a:rPr>
              <a:t>干部培训 / 专业人才 / 薪酬激励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4754880"/>
            <a:ext cx="36118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46720" y="4754880"/>
            <a:ext cx="109728" cy="1280160"/>
          </a:xfrm>
          <a:prstGeom prst="rect">
            <a:avLst/>
          </a:prstGeom>
          <a:solidFill>
            <a:srgbClr val="D26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21040" y="4919472"/>
            <a:ext cx="3200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微软雅黑"/>
              </a:rPr>
              <a:t>场景任务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5349240"/>
            <a:ext cx="320040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  <a:latin typeface="微软雅黑"/>
              </a:rPr>
              <a:t>极端天气 / 重大事件 / 信访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微软雅黑"/>
              </a:rPr>
              <a:t>HENAN-ROADS · Investor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718096"/>
                </a:solidFill>
                <a:latin typeface="微软雅黑"/>
              </a:rPr>
              <a:t>08 / 18</a:t>
            </a:r>
          </a:p>
        </p:txBody>
      </p:sp>
      <p:sp>
        <p:nvSpPr>
          <p:cNvPr id="5" name="Oval 4"/>
          <p:cNvSpPr/>
          <p:nvPr/>
        </p:nvSpPr>
        <p:spPr>
          <a:xfrm>
            <a:off x="182880" y="292608"/>
            <a:ext cx="109728" cy="109728"/>
          </a:xfrm>
          <a:prstGeom prst="ellipse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B8232F"/>
                </a:solidFill>
                <a:latin typeface="微软雅黑"/>
              </a:rPr>
              <a:t>商业模式 · BUSINESS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微软雅黑"/>
              </a:rPr>
              <a:t>商业模式画布 · 5 个收入流 · 政府 SaaS 雪球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457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783080"/>
            <a:ext cx="23317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2331720" cy="3200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233172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关键合作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94560"/>
            <a:ext cx="205740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  <a:latin typeface="微软雅黑"/>
              </a:rPr>
              <a:t>PolyU SCRI / 中央党校 / 华为政务 / 阿里云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1783080"/>
            <a:ext cx="23317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88920" y="1783080"/>
            <a:ext cx="2331720" cy="320040"/>
          </a:xfrm>
          <a:prstGeom prst="rect">
            <a:avLst/>
          </a:prstGeom>
          <a:solidFill>
            <a:srgbClr val="B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1783080"/>
            <a:ext cx="233172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关键活动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194560"/>
            <a:ext cx="205740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  <a:latin typeface="微软雅黑"/>
              </a:rPr>
              <a:t>产品迭代 / 政府关系 / 学术合作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1783080"/>
            <a:ext cx="23317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0" y="1783080"/>
            <a:ext cx="2331720" cy="32004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1783080"/>
            <a:ext cx="233172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价值主张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2194560"/>
            <a:ext cx="205740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  <a:latin typeface="微软雅黑"/>
              </a:rPr>
              <a:t>决策有沙盘
满意度可量化
干部能上手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1783080"/>
            <a:ext cx="23317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52360" y="1783080"/>
            <a:ext cx="2331720" cy="320040"/>
          </a:xfrm>
          <a:prstGeom prst="rect">
            <a:avLst/>
          </a:prstGeom>
          <a:solidFill>
            <a:srgbClr val="B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1783080"/>
            <a:ext cx="233172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客户关系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194560"/>
            <a:ext cx="205740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  <a:latin typeface="微软雅黑"/>
              </a:rPr>
              <a:t>定制部署 / 工作坊 / 战略复盘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1783080"/>
            <a:ext cx="23317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1783080"/>
            <a:ext cx="2331720" cy="3200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1783080"/>
            <a:ext cx="233172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客户细分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2194560"/>
            <a:ext cx="205740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  <a:latin typeface="微软雅黑"/>
              </a:rPr>
              <a:t>县市政府
省级党委
党校 / 高校
央国企智库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703320"/>
            <a:ext cx="6903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703320"/>
            <a:ext cx="6903720" cy="3200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703320"/>
            <a:ext cx="690372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关键资源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114800"/>
            <a:ext cx="662940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  <a:latin typeface="微软雅黑"/>
              </a:rPr>
              <a:t>学术 IP（史文中 PolyU SCRI 5 年独家）+ 数据基线（河南满意度调研）+ 已建工作产品（10 栏目网站、18 杠杆沙盘、ISUI 6 维实时仪表）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52360" y="3703320"/>
            <a:ext cx="4617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52360" y="3703320"/>
            <a:ext cx="4617720" cy="320040"/>
          </a:xfrm>
          <a:prstGeom prst="rect">
            <a:avLst/>
          </a:prstGeom>
          <a:solidFill>
            <a:srgbClr val="B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52360" y="3703320"/>
            <a:ext cx="461772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渠道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4114800"/>
            <a:ext cx="434340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  <a:latin typeface="微软雅黑"/>
              </a:rPr>
              <a:t>直销（厅局级 BD）· 学术合作（PolyU / 党校 / 清华公管）· 集成商渠道（华为 / 海康 / 紫光 OEM）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120640"/>
            <a:ext cx="5760720" cy="1280160"/>
          </a:xfrm>
          <a:prstGeom prst="roundRect">
            <a:avLst>
              <a:gd name="adj" fmla="val 6000"/>
            </a:avLst>
          </a:prstGeom>
          <a:solidFill>
            <a:srgbClr val="F5F2EC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5257800"/>
            <a:ext cx="5486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微软雅黑"/>
              </a:rPr>
              <a:t>成本结构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5623560"/>
            <a:ext cx="5486400" cy="7772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  <a:latin typeface="微软雅黑"/>
              </a:rPr>
              <a:t>研发 40% · 销售 25% · 运营 15% · IP 10% · 行政 10%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55080" y="5120640"/>
            <a:ext cx="5760720" cy="1280160"/>
          </a:xfrm>
          <a:prstGeom prst="roundRect">
            <a:avLst>
              <a:gd name="adj" fmla="val 6000"/>
            </a:avLst>
          </a:prstGeom>
          <a:solidFill>
            <a:srgbClr val="FAF0EC"/>
          </a:solidFill>
          <a:ln w="6350">
            <a:solidFill>
              <a:srgbClr val="B82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5257800"/>
            <a:ext cx="5486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B8232F"/>
                </a:solidFill>
                <a:latin typeface="微软雅黑"/>
              </a:rPr>
              <a:t>收入流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5623560"/>
            <a:ext cx="5486400" cy="7772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  <a:latin typeface="微软雅黑"/>
              </a:rPr>
              <a:t>SaaS 订阅 40% · 项目咨询 35% · 数据报告 10% · 培训认证 10% · IP 授权 5%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微软雅黑"/>
              </a:rPr>
              <a:t>HENAN-ROADS · Investor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718096"/>
                </a:solidFill>
                <a:latin typeface="微软雅黑"/>
              </a:rPr>
              <a:t>09 / 18</a:t>
            </a:r>
          </a:p>
        </p:txBody>
      </p:sp>
      <p:sp>
        <p:nvSpPr>
          <p:cNvPr id="5" name="Oval 4"/>
          <p:cNvSpPr/>
          <p:nvPr/>
        </p:nvSpPr>
        <p:spPr>
          <a:xfrm>
            <a:off x="182880" y="292608"/>
            <a:ext cx="109728" cy="109728"/>
          </a:xfrm>
          <a:prstGeom prst="ellipse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B8232F"/>
                </a:solidFill>
                <a:latin typeface="微软雅黑"/>
              </a:rPr>
              <a:t>商业模式 ·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微软雅黑"/>
              </a:rPr>
              <a:t>5 条收入流 · 飞轮式叠加 · Y3 总收入 1.2 亿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457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874519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109728" cy="868680"/>
          </a:xfrm>
          <a:prstGeom prst="rect">
            <a:avLst/>
          </a:prstGeom>
          <a:solidFill>
            <a:srgbClr val="B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2039111"/>
            <a:ext cx="548640" cy="548640"/>
          </a:xfrm>
          <a:prstGeom prst="ellipse">
            <a:avLst/>
          </a:prstGeom>
          <a:solidFill>
            <a:srgbClr val="B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039111"/>
            <a:ext cx="54864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965959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微软雅黑"/>
              </a:rPr>
              <a:t>SaaS 订阅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331719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B8232F"/>
                </a:solidFill>
                <a:latin typeface="Georgia"/>
              </a:rPr>
              <a:t>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039111"/>
            <a:ext cx="502920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  <a:latin typeface="微软雅黑"/>
              </a:rPr>
              <a:t>县 5-10 万 / 市 30-100 万 / 省 200-500 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2130551"/>
            <a:ext cx="2286000" cy="411480"/>
          </a:xfrm>
          <a:prstGeom prst="roundRect">
            <a:avLst>
              <a:gd name="adj" fmla="val 6000"/>
            </a:avLst>
          </a:prstGeom>
          <a:solidFill>
            <a:srgbClr val="FAF8F2"/>
          </a:solidFill>
          <a:ln w="6350">
            <a:solidFill>
              <a:srgbClr val="B82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2130551"/>
            <a:ext cx="22860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B8232F"/>
                </a:solidFill>
                <a:latin typeface="微软雅黑"/>
              </a:rPr>
              <a:t>续费率 90%+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788919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788919"/>
            <a:ext cx="10972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" y="2953511"/>
            <a:ext cx="548640" cy="54864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953511"/>
            <a:ext cx="54864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2880359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微软雅黑"/>
              </a:rPr>
              <a:t>项目咨询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246119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  <a:latin typeface="Georgia"/>
              </a:rPr>
              <a:t>35%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2953511"/>
            <a:ext cx="502920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  <a:latin typeface="微软雅黑"/>
              </a:rPr>
              <a:t>治理诊断 50-300 万 / 单 · 主入口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3044951"/>
            <a:ext cx="2286000" cy="411480"/>
          </a:xfrm>
          <a:prstGeom prst="roundRect">
            <a:avLst>
              <a:gd name="adj" fmla="val 6000"/>
            </a:avLst>
          </a:prstGeom>
          <a:solidFill>
            <a:srgbClr val="FAF8F2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3044951"/>
            <a:ext cx="22860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1E3A5F"/>
                </a:solidFill>
                <a:latin typeface="微软雅黑"/>
              </a:rPr>
              <a:t>毛利 55-70%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703319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703319"/>
            <a:ext cx="109728" cy="86868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7240" y="3867911"/>
            <a:ext cx="548640" cy="548640"/>
          </a:xfrm>
          <a:prstGeom prst="ellipse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867911"/>
            <a:ext cx="54864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3794759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微软雅黑"/>
              </a:rPr>
              <a:t>数据 + 报告订阅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4160519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C9A063"/>
                </a:solidFill>
                <a:latin typeface="Georgia"/>
              </a:rPr>
              <a:t>10%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3867911"/>
            <a:ext cx="502920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  <a:latin typeface="微软雅黑"/>
              </a:rPr>
              <a:t>白皮书 5 万 / 季报 3 万 / API 10 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9760" y="3959351"/>
            <a:ext cx="2286000" cy="411480"/>
          </a:xfrm>
          <a:prstGeom prst="roundRect">
            <a:avLst>
              <a:gd name="adj" fmla="val 6000"/>
            </a:avLst>
          </a:prstGeom>
          <a:solidFill>
            <a:srgbClr val="FAF8F2"/>
          </a:solidFill>
          <a:ln w="635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0" y="3959351"/>
            <a:ext cx="22860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C9A063"/>
                </a:solidFill>
                <a:latin typeface="微软雅黑"/>
              </a:rPr>
              <a:t>高复利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617719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4617719"/>
            <a:ext cx="109728" cy="868680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77240" y="4782311"/>
            <a:ext cx="548640" cy="548640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4782311"/>
            <a:ext cx="54864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08760" y="4709159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微软雅黑"/>
              </a:rPr>
              <a:t>培训认证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8760" y="5074919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2F855A"/>
                </a:solidFill>
                <a:latin typeface="Georgia"/>
              </a:rPr>
              <a:t>10%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4782311"/>
            <a:ext cx="502920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  <a:latin typeface="微软雅黑"/>
              </a:rPr>
              <a:t>沙盘师 8000 元 / 党校班 50-150 万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09760" y="4873751"/>
            <a:ext cx="2286000" cy="411480"/>
          </a:xfrm>
          <a:prstGeom prst="roundRect">
            <a:avLst>
              <a:gd name="adj" fmla="val 6000"/>
            </a:avLst>
          </a:prstGeom>
          <a:solidFill>
            <a:srgbClr val="FAF8F2"/>
          </a:solidFill>
          <a:ln w="63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60" y="4873751"/>
            <a:ext cx="22860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2F855A"/>
                </a:solidFill>
                <a:latin typeface="微软雅黑"/>
              </a:rPr>
              <a:t>干部网络入口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532119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5532119"/>
            <a:ext cx="109728" cy="868680"/>
          </a:xfrm>
          <a:prstGeom prst="rect">
            <a:avLst/>
          </a:prstGeom>
          <a:solidFill>
            <a:srgbClr val="805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77240" y="5696711"/>
            <a:ext cx="548640" cy="548640"/>
          </a:xfrm>
          <a:prstGeom prst="ellipse">
            <a:avLst/>
          </a:prstGeom>
          <a:solidFill>
            <a:srgbClr val="805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5696711"/>
            <a:ext cx="54864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08760" y="5623559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微软雅黑"/>
              </a:rPr>
              <a:t>学术 IP 授权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08760" y="5989319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805AD5"/>
                </a:solidFill>
                <a:latin typeface="Georgia"/>
              </a:rPr>
              <a:t>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0" y="5696711"/>
            <a:ext cx="502920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  <a:latin typeface="微软雅黑"/>
              </a:rPr>
              <a:t>ISUI 子许可 / 出版 / 联合实验室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509760" y="5788151"/>
            <a:ext cx="2286000" cy="411480"/>
          </a:xfrm>
          <a:prstGeom prst="roundRect">
            <a:avLst>
              <a:gd name="adj" fmla="val 6000"/>
            </a:avLst>
          </a:prstGeom>
          <a:solidFill>
            <a:srgbClr val="FAF8F2"/>
          </a:solidFill>
          <a:ln w="6350">
            <a:solidFill>
              <a:srgbClr val="805A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09760" y="5788151"/>
            <a:ext cx="22860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805AD5"/>
                </a:solidFill>
                <a:latin typeface="微软雅黑"/>
              </a:rPr>
              <a:t>标准定义权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微软雅黑"/>
              </a:rPr>
              <a:t>HENAN-ROADS · Investor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718096"/>
                </a:solidFill>
                <a:latin typeface="微软雅黑"/>
              </a:rPr>
              <a:t>10 / 18</a:t>
            </a:r>
          </a:p>
        </p:txBody>
      </p:sp>
      <p:sp>
        <p:nvSpPr>
          <p:cNvPr id="5" name="Oval 4"/>
          <p:cNvSpPr/>
          <p:nvPr/>
        </p:nvSpPr>
        <p:spPr>
          <a:xfrm>
            <a:off x="182880" y="292608"/>
            <a:ext cx="109728" cy="109728"/>
          </a:xfrm>
          <a:prstGeom prst="ellipse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B8232F"/>
                </a:solidFill>
                <a:latin typeface="微软雅黑"/>
              </a:rPr>
              <a:t>市场 · MARKET SIZE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微软雅黑"/>
              </a:rPr>
              <a:t>TAM 2000 亿 · SAM 300 亿 · SOM 30 亿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457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2287" y="1874519"/>
            <a:ext cx="11247120" cy="1234440"/>
          </a:xfrm>
          <a:prstGeom prst="roundRect">
            <a:avLst>
              <a:gd name="adj" fmla="val 6000"/>
            </a:avLst>
          </a:prstGeom>
          <a:solidFill>
            <a:srgbClr val="F5F2EC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047" y="2039111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微软雅黑"/>
              </a:rPr>
              <a:t>TAM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047" y="2377439"/>
            <a:ext cx="32004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Georgia"/>
              </a:rPr>
              <a:t>2,000 亿 / 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7087" y="2240279"/>
            <a:ext cx="685800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0">
                <a:solidFill>
                  <a:srgbClr val="1A202C"/>
                </a:solidFill>
                <a:latin typeface="微软雅黑"/>
              </a:rPr>
              <a:t>中国地方政府治理科技市场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52447" y="3246119"/>
            <a:ext cx="8686800" cy="1234440"/>
          </a:xfrm>
          <a:prstGeom prst="roundRect">
            <a:avLst>
              <a:gd name="adj" fmla="val 6000"/>
            </a:avLst>
          </a:prstGeom>
          <a:solidFill>
            <a:srgbClr val="FAF8F2"/>
          </a:solidFill>
          <a:ln w="6350">
            <a:solidFill>
              <a:srgbClr val="B82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18207" y="3410711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B8232F"/>
                </a:solidFill>
                <a:latin typeface="微软雅黑"/>
              </a:rPr>
              <a:t>SAM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18207" y="3749039"/>
            <a:ext cx="32004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B8232F"/>
                </a:solidFill>
                <a:latin typeface="Georgia"/>
              </a:rPr>
              <a:t>300 亿 / 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67247" y="3611879"/>
            <a:ext cx="429768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0">
                <a:solidFill>
                  <a:srgbClr val="1A202C"/>
                </a:solidFill>
                <a:latin typeface="微软雅黑"/>
              </a:rPr>
              <a:t>数字政府基层治理 + ISUI 测评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86887" y="4617719"/>
            <a:ext cx="62179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2647" y="4782311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C9A063"/>
                </a:solidFill>
                <a:latin typeface="微软雅黑"/>
              </a:rPr>
              <a:t>SOM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2647" y="5120639"/>
            <a:ext cx="32004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C9A063"/>
                </a:solidFill>
                <a:latin typeface="Georgia"/>
              </a:rPr>
              <a:t>30 亿 / 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1687" y="4983479"/>
            <a:ext cx="182880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0">
                <a:solidFill>
                  <a:srgbClr val="1A202C"/>
                </a:solidFill>
                <a:latin typeface="微软雅黑"/>
              </a:rPr>
              <a:t>县市级治理沙盘 + 满意度测评工具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612648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126480"/>
            <a:ext cx="1097280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C9A063"/>
                </a:solidFill>
                <a:latin typeface="微软雅黑"/>
              </a:rPr>
              <a:t>Y3 目标占有率 4% = 1.2 亿 ARR  ·  Y5 目标占有率 12% = 5 亿 ARR  ·  对应 IPO 估值 40 亿+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微软雅黑"/>
              </a:rPr>
              <a:t>HENAN-ROADS · Investor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718096"/>
                </a:solidFill>
                <a:latin typeface="微软雅黑"/>
              </a:rPr>
              <a:t>11 / 18</a:t>
            </a:r>
          </a:p>
        </p:txBody>
      </p:sp>
      <p:sp>
        <p:nvSpPr>
          <p:cNvPr id="5" name="Oval 4"/>
          <p:cNvSpPr/>
          <p:nvPr/>
        </p:nvSpPr>
        <p:spPr>
          <a:xfrm>
            <a:off x="182880" y="292608"/>
            <a:ext cx="109728" cy="109728"/>
          </a:xfrm>
          <a:prstGeom prst="ellipse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B8232F"/>
                </a:solidFill>
                <a:latin typeface="微软雅黑"/>
              </a:rPr>
              <a:t>客户 · CUSTOMERS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微软雅黑"/>
              </a:rPr>
              <a:t>5 个客户层级 · 全国 6,500+ 触达对象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457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219456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2194560" cy="548640"/>
          </a:xfrm>
          <a:prstGeom prst="rect">
            <a:avLst/>
          </a:prstGeom>
          <a:solidFill>
            <a:srgbClr val="B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219456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Tier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60320"/>
            <a:ext cx="192024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500" b="1">
                <a:solidFill>
                  <a:srgbClr val="1E3A5F"/>
                </a:solidFill>
                <a:latin typeface="微软雅黑"/>
              </a:rPr>
              <a:t>县市党委政府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3291840"/>
            <a:ext cx="1188720" cy="1188720"/>
          </a:xfrm>
          <a:prstGeom prst="ellipse">
            <a:avLst/>
          </a:prstGeom>
          <a:solidFill>
            <a:srgbClr val="B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291840"/>
            <a:ext cx="1188720" cy="11887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Georgia"/>
              </a:rPr>
              <a:t>3,000+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663440"/>
            <a:ext cx="1920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718096"/>
                </a:solidFill>
                <a:latin typeface="微软雅黑"/>
              </a:rPr>
              <a:t>单客 ARR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937760"/>
            <a:ext cx="1920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B8232F"/>
                </a:solidFill>
                <a:latin typeface="微软雅黑"/>
              </a:rPr>
              <a:t>5-30 万 / 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440680"/>
            <a:ext cx="1645920" cy="18288"/>
          </a:xfrm>
          <a:prstGeom prst="rect">
            <a:avLst/>
          </a:prstGeom>
          <a:solidFill>
            <a:srgbClr val="B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577839"/>
            <a:ext cx="1920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718096"/>
                </a:solidFill>
                <a:latin typeface="微软雅黑"/>
              </a:rPr>
              <a:t>决策路径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852160"/>
            <a:ext cx="1920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>
                <a:solidFill>
                  <a:srgbClr val="1A202C"/>
                </a:solidFill>
                <a:latin typeface="微软雅黑"/>
              </a:rPr>
              <a:t>政府采购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1828800"/>
            <a:ext cx="219456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88920" y="1828800"/>
            <a:ext cx="2194560" cy="5486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88920" y="1828800"/>
            <a:ext cx="219456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Tier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2560320"/>
            <a:ext cx="192024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500" b="1">
                <a:solidFill>
                  <a:srgbClr val="1E3A5F"/>
                </a:solidFill>
                <a:latin typeface="微软雅黑"/>
              </a:rPr>
              <a:t>省级党委政府</a:t>
            </a:r>
          </a:p>
        </p:txBody>
      </p:sp>
      <p:sp>
        <p:nvSpPr>
          <p:cNvPr id="24" name="Oval 23"/>
          <p:cNvSpPr/>
          <p:nvPr/>
        </p:nvSpPr>
        <p:spPr>
          <a:xfrm>
            <a:off x="3291840" y="3291840"/>
            <a:ext cx="1188720" cy="118872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3291840"/>
            <a:ext cx="1188720" cy="11887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Georgia"/>
              </a:rPr>
              <a:t>31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63440"/>
            <a:ext cx="1920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718096"/>
                </a:solidFill>
                <a:latin typeface="微软雅黑"/>
              </a:rPr>
              <a:t>单客 ARR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937760"/>
            <a:ext cx="1920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微软雅黑"/>
              </a:rPr>
              <a:t>200-500 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63240" y="5440680"/>
            <a:ext cx="1645920" cy="1828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6080" y="5577839"/>
            <a:ext cx="1920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718096"/>
                </a:solidFill>
                <a:latin typeface="微软雅黑"/>
              </a:rPr>
              <a:t>决策路径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5852160"/>
            <a:ext cx="1920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>
                <a:solidFill>
                  <a:srgbClr val="1A202C"/>
                </a:solidFill>
                <a:latin typeface="微软雅黑"/>
              </a:rPr>
              <a:t>厅级直采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20640" y="1828800"/>
            <a:ext cx="219456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20640" y="1828800"/>
            <a:ext cx="2194560" cy="54864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0" y="1828800"/>
            <a:ext cx="219456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Tier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2560320"/>
            <a:ext cx="192024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500" b="1">
                <a:solidFill>
                  <a:srgbClr val="1E3A5F"/>
                </a:solidFill>
                <a:latin typeface="微软雅黑"/>
              </a:rPr>
              <a:t>中央 / 省级党校</a:t>
            </a:r>
          </a:p>
        </p:txBody>
      </p:sp>
      <p:sp>
        <p:nvSpPr>
          <p:cNvPr id="35" name="Oval 34"/>
          <p:cNvSpPr/>
          <p:nvPr/>
        </p:nvSpPr>
        <p:spPr>
          <a:xfrm>
            <a:off x="5623560" y="3291840"/>
            <a:ext cx="1188720" cy="1188720"/>
          </a:xfrm>
          <a:prstGeom prst="ellipse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23560" y="3291840"/>
            <a:ext cx="1188720" cy="11887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Georgia"/>
              </a:rPr>
              <a:t>60+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7800" y="4663440"/>
            <a:ext cx="1920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718096"/>
                </a:solidFill>
                <a:latin typeface="微软雅黑"/>
              </a:rPr>
              <a:t>单客 ARR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57800" y="4937760"/>
            <a:ext cx="1920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C9A063"/>
                </a:solidFill>
                <a:latin typeface="微软雅黑"/>
              </a:rPr>
              <a:t>30-150 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94960" y="5440680"/>
            <a:ext cx="1645920" cy="18288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57800" y="5577839"/>
            <a:ext cx="1920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718096"/>
                </a:solidFill>
                <a:latin typeface="微软雅黑"/>
              </a:rPr>
              <a:t>决策路径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57800" y="5852160"/>
            <a:ext cx="1920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>
                <a:solidFill>
                  <a:srgbClr val="1A202C"/>
                </a:solidFill>
                <a:latin typeface="微软雅黑"/>
              </a:rPr>
              <a:t>学术合作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52359" y="1828800"/>
            <a:ext cx="219456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59" y="1828800"/>
            <a:ext cx="2194560" cy="548640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52359" y="1828800"/>
            <a:ext cx="219456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Tier 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19" y="2560320"/>
            <a:ext cx="192024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500" b="1">
                <a:solidFill>
                  <a:srgbClr val="1E3A5F"/>
                </a:solidFill>
                <a:latin typeface="微软雅黑"/>
              </a:rPr>
              <a:t>公管学院 MPA</a:t>
            </a:r>
          </a:p>
        </p:txBody>
      </p:sp>
      <p:sp>
        <p:nvSpPr>
          <p:cNvPr id="46" name="Oval 45"/>
          <p:cNvSpPr/>
          <p:nvPr/>
        </p:nvSpPr>
        <p:spPr>
          <a:xfrm>
            <a:off x="7955279" y="3291840"/>
            <a:ext cx="1188720" cy="1188720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55279" y="3291840"/>
            <a:ext cx="1188720" cy="11887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Georgia"/>
              </a:rPr>
              <a:t>300+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19" y="4663440"/>
            <a:ext cx="1920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718096"/>
                </a:solidFill>
                <a:latin typeface="微软雅黑"/>
              </a:rPr>
              <a:t>单客 ARR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9519" y="4937760"/>
            <a:ext cx="1920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2F855A"/>
                </a:solidFill>
                <a:latin typeface="微软雅黑"/>
              </a:rPr>
              <a:t>5-20 万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26679" y="5440680"/>
            <a:ext cx="1645920" cy="18288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89519" y="5577839"/>
            <a:ext cx="1920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718096"/>
                </a:solidFill>
                <a:latin typeface="微软雅黑"/>
              </a:rPr>
              <a:t>决策路径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89519" y="5852160"/>
            <a:ext cx="1920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>
                <a:solidFill>
                  <a:srgbClr val="1A202C"/>
                </a:solidFill>
                <a:latin typeface="微软雅黑"/>
              </a:rPr>
              <a:t>课程合作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784080" y="1828800"/>
            <a:ext cx="219456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784080" y="1828800"/>
            <a:ext cx="2194560" cy="548640"/>
          </a:xfrm>
          <a:prstGeom prst="rect">
            <a:avLst/>
          </a:prstGeom>
          <a:solidFill>
            <a:srgbClr val="805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84080" y="1828800"/>
            <a:ext cx="219456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Tier 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21240" y="2560320"/>
            <a:ext cx="192024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500" b="1">
                <a:solidFill>
                  <a:srgbClr val="1E3A5F"/>
                </a:solidFill>
                <a:latin typeface="微软雅黑"/>
              </a:rPr>
              <a:t>央国企智库</a:t>
            </a:r>
          </a:p>
        </p:txBody>
      </p:sp>
      <p:sp>
        <p:nvSpPr>
          <p:cNvPr id="57" name="Oval 56"/>
          <p:cNvSpPr/>
          <p:nvPr/>
        </p:nvSpPr>
        <p:spPr>
          <a:xfrm>
            <a:off x="10287000" y="3291840"/>
            <a:ext cx="1188720" cy="1188720"/>
          </a:xfrm>
          <a:prstGeom prst="ellipse">
            <a:avLst/>
          </a:prstGeom>
          <a:solidFill>
            <a:srgbClr val="805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287000" y="3291840"/>
            <a:ext cx="1188720" cy="11887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Georgia"/>
              </a:rPr>
              <a:t>50+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21240" y="4663440"/>
            <a:ext cx="1920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718096"/>
                </a:solidFill>
                <a:latin typeface="微软雅黑"/>
              </a:rPr>
              <a:t>单客 ARR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21240" y="4937760"/>
            <a:ext cx="1920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805AD5"/>
                </a:solidFill>
                <a:latin typeface="微软雅黑"/>
              </a:rPr>
              <a:t>30-100 万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058400" y="5440680"/>
            <a:ext cx="1645920" cy="18288"/>
          </a:xfrm>
          <a:prstGeom prst="rect">
            <a:avLst/>
          </a:prstGeom>
          <a:solidFill>
            <a:srgbClr val="805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21240" y="5577839"/>
            <a:ext cx="1920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718096"/>
                </a:solidFill>
                <a:latin typeface="微软雅黑"/>
              </a:rPr>
              <a:t>决策路径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21240" y="5852160"/>
            <a:ext cx="1920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>
                <a:solidFill>
                  <a:srgbClr val="1A202C"/>
                </a:solidFill>
                <a:latin typeface="微软雅黑"/>
              </a:rPr>
              <a:t>政策咨询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微软雅黑"/>
              </a:rPr>
              <a:t>HENAN-ROADS · Investor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718096"/>
                </a:solidFill>
                <a:latin typeface="微软雅黑"/>
              </a:rPr>
              <a:t>12 / 18</a:t>
            </a:r>
          </a:p>
        </p:txBody>
      </p:sp>
      <p:sp>
        <p:nvSpPr>
          <p:cNvPr id="5" name="Oval 4"/>
          <p:cNvSpPr/>
          <p:nvPr/>
        </p:nvSpPr>
        <p:spPr>
          <a:xfrm>
            <a:off x="182880" y="292608"/>
            <a:ext cx="109728" cy="109728"/>
          </a:xfrm>
          <a:prstGeom prst="ellipse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B8232F"/>
                </a:solidFill>
                <a:latin typeface="微软雅黑"/>
              </a:rPr>
              <a:t>增长 · GO TO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微软雅黑"/>
              </a:rPr>
              <a:t>三轨并进 GTM · 学术合作切入 → SaaS 留客 → 全国复制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457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11247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2075688"/>
            <a:ext cx="868680" cy="868680"/>
          </a:xfrm>
          <a:prstGeom prst="ellipse">
            <a:avLst/>
          </a:prstGeom>
          <a:solidFill>
            <a:srgbClr val="B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868680" cy="8686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Georgia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011680"/>
            <a:ext cx="4114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微软雅黑"/>
              </a:rPr>
              <a:t>政府直销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468880"/>
            <a:ext cx="411480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1A202C"/>
                </a:solidFill>
                <a:latin typeface="微软雅黑"/>
              </a:rPr>
              <a:t>厅局级 BD → 招投标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965960"/>
            <a:ext cx="164592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718096"/>
                </a:solidFill>
                <a:latin typeface="微软雅黑"/>
              </a:rPr>
              <a:t>成交周期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286000"/>
            <a:ext cx="164592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B8232F"/>
                </a:solidFill>
                <a:latin typeface="Georgia"/>
              </a:rPr>
              <a:t>9-12 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965960"/>
            <a:ext cx="164592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718096"/>
                </a:solidFill>
                <a:latin typeface="微软雅黑"/>
              </a:rPr>
              <a:t>ARPU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286000"/>
            <a:ext cx="164592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B8232F"/>
                </a:solidFill>
                <a:latin typeface="Georgia"/>
              </a:rPr>
              <a:t>30-200 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1965960"/>
            <a:ext cx="164592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718096"/>
                </a:solidFill>
                <a:latin typeface="微软雅黑"/>
              </a:rPr>
              <a:t>Y3 占比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286000"/>
            <a:ext cx="164592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B8232F"/>
                </a:solidFill>
                <a:latin typeface="Georgia"/>
              </a:rPr>
              <a:t>55%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521440" y="1828800"/>
            <a:ext cx="182880" cy="1371600"/>
          </a:xfrm>
          <a:prstGeom prst="rect">
            <a:avLst/>
          </a:prstGeom>
          <a:solidFill>
            <a:srgbClr val="B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3337560"/>
            <a:ext cx="11247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584448"/>
            <a:ext cx="868680" cy="86868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584448"/>
            <a:ext cx="868680" cy="8686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Georgia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3520440"/>
            <a:ext cx="4114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微软雅黑"/>
              </a:rPr>
              <a:t>学术合作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3977640"/>
            <a:ext cx="411480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1A202C"/>
                </a:solidFill>
                <a:latin typeface="微软雅黑"/>
              </a:rPr>
              <a:t>PolyU / 党校 / 清华 → 联合项目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474720"/>
            <a:ext cx="164592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718096"/>
                </a:solidFill>
                <a:latin typeface="微软雅黑"/>
              </a:rPr>
              <a:t>成交周期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3794760"/>
            <a:ext cx="164592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Georgia"/>
              </a:rPr>
              <a:t>3-6 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3474720"/>
            <a:ext cx="164592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718096"/>
                </a:solidFill>
                <a:latin typeface="微软雅黑"/>
              </a:rPr>
              <a:t>ARPU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794760"/>
            <a:ext cx="164592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Georgia"/>
              </a:rPr>
              <a:t>30-80 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3474720"/>
            <a:ext cx="164592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718096"/>
                </a:solidFill>
                <a:latin typeface="微软雅黑"/>
              </a:rPr>
              <a:t>Y3 占比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3794760"/>
            <a:ext cx="164592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Georgia"/>
              </a:rPr>
              <a:t>30%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521440" y="3337560"/>
            <a:ext cx="182880" cy="13716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7200" y="4846320"/>
            <a:ext cx="11247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0080" y="5093208"/>
            <a:ext cx="868680" cy="868680"/>
          </a:xfrm>
          <a:prstGeom prst="ellipse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093208"/>
            <a:ext cx="868680" cy="8686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Georgia"/>
              </a:rPr>
              <a:t>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91640" y="5029200"/>
            <a:ext cx="4114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微软雅黑"/>
              </a:rPr>
              <a:t>集成商渠道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1640" y="5486400"/>
            <a:ext cx="411480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1A202C"/>
                </a:solidFill>
                <a:latin typeface="微软雅黑"/>
              </a:rPr>
              <a:t>华为 / 海康 / 紫光 OEM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4983480"/>
            <a:ext cx="164592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718096"/>
                </a:solidFill>
                <a:latin typeface="微软雅黑"/>
              </a:rPr>
              <a:t>成交周期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5303520"/>
            <a:ext cx="164592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C9A063"/>
                </a:solidFill>
                <a:latin typeface="Georgia"/>
              </a:rPr>
              <a:t>1-3 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4983480"/>
            <a:ext cx="164592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718096"/>
                </a:solidFill>
                <a:latin typeface="微软雅黑"/>
              </a:rPr>
              <a:t>ARPU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5303520"/>
            <a:ext cx="164592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C9A063"/>
                </a:solidFill>
                <a:latin typeface="Georgia"/>
              </a:rPr>
              <a:t>10-50 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0" y="4983480"/>
            <a:ext cx="164592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718096"/>
                </a:solidFill>
                <a:latin typeface="微软雅黑"/>
              </a:rPr>
              <a:t>Y3 占比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5303520"/>
            <a:ext cx="164592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C9A063"/>
                </a:solidFill>
                <a:latin typeface="Georgia"/>
              </a:rPr>
              <a:t>15%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521440" y="4846320"/>
            <a:ext cx="182880" cy="13716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微软雅黑"/>
              </a:rPr>
              <a:t>HENAN-ROADS · Investor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718096"/>
                </a:solidFill>
                <a:latin typeface="微软雅黑"/>
              </a:rPr>
              <a:t>13 / 18</a:t>
            </a:r>
          </a:p>
        </p:txBody>
      </p:sp>
      <p:sp>
        <p:nvSpPr>
          <p:cNvPr id="5" name="Oval 4"/>
          <p:cNvSpPr/>
          <p:nvPr/>
        </p:nvSpPr>
        <p:spPr>
          <a:xfrm>
            <a:off x="182880" y="292608"/>
            <a:ext cx="109728" cy="109728"/>
          </a:xfrm>
          <a:prstGeom prst="ellipse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B8232F"/>
                </a:solidFill>
                <a:latin typeface="微软雅黑"/>
              </a:rPr>
              <a:t>竞争 · COMPETITION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微软雅黑"/>
              </a:rPr>
              <a:t>竞争对比 · 5 维全胜（学术 IP / 方法论 / 数据）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457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2011680" cy="5486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201168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维度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1828800"/>
            <a:ext cx="1691640" cy="5486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1828800"/>
            <a:ext cx="169164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华为政务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828800"/>
            <a:ext cx="1691640" cy="5486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1828800"/>
            <a:ext cx="169164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阿里数政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1828800"/>
            <a:ext cx="1691640" cy="5486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1828800"/>
            <a:ext cx="169164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中科曙光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43800" y="1828800"/>
            <a:ext cx="1691640" cy="5486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1828800"/>
            <a:ext cx="169164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麦肯锡咨询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828800"/>
            <a:ext cx="2468880" cy="548640"/>
          </a:xfrm>
          <a:prstGeom prst="rect">
            <a:avLst/>
          </a:prstGeom>
          <a:solidFill>
            <a:srgbClr val="B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828800"/>
            <a:ext cx="246888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我们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77440"/>
            <a:ext cx="20116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377440"/>
            <a:ext cx="1828800" cy="6217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微软雅黑"/>
              </a:rPr>
              <a:t>独家学术 IP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8880" y="2377440"/>
            <a:ext cx="1691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0" y="2377440"/>
            <a:ext cx="1508760" cy="6217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718096"/>
                </a:solidFill>
                <a:latin typeface="微软雅黑"/>
              </a:rPr>
              <a:t>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2377440"/>
            <a:ext cx="1691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60" y="2377440"/>
            <a:ext cx="1508760" cy="6217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718096"/>
                </a:solidFill>
                <a:latin typeface="微软雅黑"/>
              </a:rPr>
              <a:t>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0" y="2377440"/>
            <a:ext cx="1691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2377440"/>
            <a:ext cx="1508760" cy="6217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718096"/>
                </a:solidFill>
                <a:latin typeface="微软雅黑"/>
              </a:rPr>
              <a:t>中科院弱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43800" y="2377440"/>
            <a:ext cx="1691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35240" y="2377440"/>
            <a:ext cx="1508760" cy="6217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718096"/>
                </a:solidFill>
                <a:latin typeface="微软雅黑"/>
              </a:rPr>
              <a:t>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35440" y="2377440"/>
            <a:ext cx="2468880" cy="621792"/>
          </a:xfrm>
          <a:prstGeom prst="rect">
            <a:avLst/>
          </a:prstGeom>
          <a:solidFill>
            <a:srgbClr val="FAF0EC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0" y="2377440"/>
            <a:ext cx="2286000" cy="6217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B8232F"/>
                </a:solidFill>
                <a:latin typeface="微软雅黑"/>
              </a:rPr>
              <a:t>✓ 史文中 PolyU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999232"/>
            <a:ext cx="2011680" cy="621792"/>
          </a:xfrm>
          <a:prstGeom prst="rect">
            <a:avLst/>
          </a:prstGeom>
          <a:solidFill>
            <a:srgbClr val="F5F2EC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2999232"/>
            <a:ext cx="1828800" cy="6217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微软雅黑"/>
              </a:rPr>
              <a:t>方法论沙盘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8880" y="2999232"/>
            <a:ext cx="1691640" cy="621792"/>
          </a:xfrm>
          <a:prstGeom prst="rect">
            <a:avLst/>
          </a:prstGeom>
          <a:solidFill>
            <a:srgbClr val="F5F2EC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0" y="2999232"/>
            <a:ext cx="1508760" cy="6217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718096"/>
                </a:solidFill>
                <a:latin typeface="微软雅黑"/>
              </a:rPr>
              <a:t>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60520" y="2999232"/>
            <a:ext cx="1691640" cy="621792"/>
          </a:xfrm>
          <a:prstGeom prst="rect">
            <a:avLst/>
          </a:prstGeom>
          <a:solidFill>
            <a:srgbClr val="F5F2EC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51960" y="2999232"/>
            <a:ext cx="1508760" cy="6217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718096"/>
                </a:solidFill>
                <a:latin typeface="微软雅黑"/>
              </a:rPr>
              <a:t>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52160" y="2999232"/>
            <a:ext cx="1691640" cy="621792"/>
          </a:xfrm>
          <a:prstGeom prst="rect">
            <a:avLst/>
          </a:prstGeom>
          <a:solidFill>
            <a:srgbClr val="F5F2EC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0" y="2999232"/>
            <a:ext cx="1508760" cy="6217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718096"/>
                </a:solidFill>
                <a:latin typeface="微软雅黑"/>
              </a:rPr>
              <a:t>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43800" y="2999232"/>
            <a:ext cx="1691640" cy="621792"/>
          </a:xfrm>
          <a:prstGeom prst="rect">
            <a:avLst/>
          </a:prstGeom>
          <a:solidFill>
            <a:srgbClr val="F5F2EC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35240" y="2999232"/>
            <a:ext cx="1508760" cy="6217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718096"/>
                </a:solidFill>
                <a:latin typeface="微软雅黑"/>
              </a:rPr>
              <a:t>PPT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35440" y="2999232"/>
            <a:ext cx="2468880" cy="621792"/>
          </a:xfrm>
          <a:prstGeom prst="rect">
            <a:avLst/>
          </a:prstGeom>
          <a:solidFill>
            <a:srgbClr val="FAF0EC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0" y="2999232"/>
            <a:ext cx="2286000" cy="6217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B8232F"/>
                </a:solidFill>
                <a:latin typeface="微软雅黑"/>
              </a:rPr>
              <a:t>✓ MIT En-ROADS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621024"/>
            <a:ext cx="20116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3621024"/>
            <a:ext cx="1828800" cy="6217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微软雅黑"/>
              </a:rPr>
              <a:t>治理数据基线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8880" y="3621024"/>
            <a:ext cx="1691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60320" y="3621024"/>
            <a:ext cx="1508760" cy="6217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718096"/>
                </a:solidFill>
                <a:latin typeface="微软雅黑"/>
              </a:rPr>
              <a:t>弱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60520" y="3621024"/>
            <a:ext cx="1691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51960" y="3621024"/>
            <a:ext cx="1508760" cy="6217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718096"/>
                </a:solidFill>
                <a:latin typeface="微软雅黑"/>
              </a:rPr>
              <a:t>中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52160" y="3621024"/>
            <a:ext cx="1691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0" y="3621024"/>
            <a:ext cx="1508760" cy="6217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718096"/>
                </a:solidFill>
                <a:latin typeface="微软雅黑"/>
              </a:rPr>
              <a:t>弱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543800" y="3621024"/>
            <a:ext cx="1691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35240" y="3621024"/>
            <a:ext cx="1508760" cy="6217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718096"/>
                </a:solidFill>
                <a:latin typeface="微软雅黑"/>
              </a:rPr>
              <a:t>弱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35440" y="3621024"/>
            <a:ext cx="2468880" cy="621792"/>
          </a:xfrm>
          <a:prstGeom prst="rect">
            <a:avLst/>
          </a:prstGeom>
          <a:solidFill>
            <a:srgbClr val="FAF0EC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26880" y="3621024"/>
            <a:ext cx="2286000" cy="6217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B8232F"/>
                </a:solidFill>
                <a:latin typeface="微软雅黑"/>
              </a:rPr>
              <a:t>✓ 河南完整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4242816"/>
            <a:ext cx="2011680" cy="621792"/>
          </a:xfrm>
          <a:prstGeom prst="rect">
            <a:avLst/>
          </a:prstGeom>
          <a:solidFill>
            <a:srgbClr val="F5F2EC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4242816"/>
            <a:ext cx="1828800" cy="6217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微软雅黑"/>
              </a:rPr>
              <a:t>价格定位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8880" y="4242816"/>
            <a:ext cx="1691640" cy="621792"/>
          </a:xfrm>
          <a:prstGeom prst="rect">
            <a:avLst/>
          </a:prstGeom>
          <a:solidFill>
            <a:srgbClr val="F5F2EC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60320" y="4242816"/>
            <a:ext cx="1508760" cy="6217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718096"/>
                </a:solidFill>
                <a:latin typeface="微软雅黑"/>
              </a:rPr>
              <a:t>千万级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60520" y="4242816"/>
            <a:ext cx="1691640" cy="621792"/>
          </a:xfrm>
          <a:prstGeom prst="rect">
            <a:avLst/>
          </a:prstGeom>
          <a:solidFill>
            <a:srgbClr val="F5F2EC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51960" y="4242816"/>
            <a:ext cx="1508760" cy="6217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718096"/>
                </a:solidFill>
                <a:latin typeface="微软雅黑"/>
              </a:rPr>
              <a:t>千万级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52160" y="4242816"/>
            <a:ext cx="1691640" cy="621792"/>
          </a:xfrm>
          <a:prstGeom prst="rect">
            <a:avLst/>
          </a:prstGeom>
          <a:solidFill>
            <a:srgbClr val="F5F2EC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43600" y="4242816"/>
            <a:ext cx="1508760" cy="6217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718096"/>
                </a:solidFill>
                <a:latin typeface="微软雅黑"/>
              </a:rPr>
              <a:t>千万级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543800" y="4242816"/>
            <a:ext cx="1691640" cy="621792"/>
          </a:xfrm>
          <a:prstGeom prst="rect">
            <a:avLst/>
          </a:prstGeom>
          <a:solidFill>
            <a:srgbClr val="F5F2EC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635240" y="4242816"/>
            <a:ext cx="1508760" cy="6217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718096"/>
                </a:solidFill>
                <a:latin typeface="微软雅黑"/>
              </a:rPr>
              <a:t>百万级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235440" y="4242816"/>
            <a:ext cx="2468880" cy="621792"/>
          </a:xfrm>
          <a:prstGeom prst="rect">
            <a:avLst/>
          </a:prstGeom>
          <a:solidFill>
            <a:srgbClr val="FAF0EC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326880" y="4242816"/>
            <a:ext cx="2286000" cy="6217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B8232F"/>
                </a:solidFill>
                <a:latin typeface="微软雅黑"/>
              </a:rPr>
              <a:t>5-500 万分层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4864608"/>
            <a:ext cx="20116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8640" y="4864608"/>
            <a:ext cx="1828800" cy="6217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微软雅黑"/>
              </a:rPr>
              <a:t>干部可用性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468880" y="4864608"/>
            <a:ext cx="1691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560320" y="4864608"/>
            <a:ext cx="1508760" cy="6217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718096"/>
                </a:solidFill>
                <a:latin typeface="微软雅黑"/>
              </a:rPr>
              <a:t>大屏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160520" y="4864608"/>
            <a:ext cx="1691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251960" y="4864608"/>
            <a:ext cx="1508760" cy="6217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718096"/>
                </a:solidFill>
                <a:latin typeface="微软雅黑"/>
              </a:rPr>
              <a:t>大屏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852160" y="4864608"/>
            <a:ext cx="1691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943600" y="4864608"/>
            <a:ext cx="1508760" cy="6217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718096"/>
                </a:solidFill>
                <a:latin typeface="微软雅黑"/>
              </a:rPr>
              <a:t>大屏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543800" y="4864608"/>
            <a:ext cx="1691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635240" y="4864608"/>
            <a:ext cx="1508760" cy="6217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718096"/>
                </a:solidFill>
                <a:latin typeface="微软雅黑"/>
              </a:rPr>
              <a:t>PPT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235440" y="4864608"/>
            <a:ext cx="2468880" cy="621792"/>
          </a:xfrm>
          <a:prstGeom prst="rect">
            <a:avLst/>
          </a:prstGeom>
          <a:solidFill>
            <a:srgbClr val="FAF0EC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326880" y="4864608"/>
            <a:ext cx="2286000" cy="6217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B8232F"/>
                </a:solidFill>
                <a:latin typeface="微软雅黑"/>
              </a:rPr>
              <a:t>✓ 工作坊推演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" y="5486400"/>
            <a:ext cx="2011680" cy="621792"/>
          </a:xfrm>
          <a:prstGeom prst="rect">
            <a:avLst/>
          </a:prstGeom>
          <a:solidFill>
            <a:srgbClr val="F5F2EC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8640" y="5486400"/>
            <a:ext cx="1828800" cy="6217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微软雅黑"/>
              </a:rPr>
              <a:t>可复制性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468880" y="5486400"/>
            <a:ext cx="1691640" cy="621792"/>
          </a:xfrm>
          <a:prstGeom prst="rect">
            <a:avLst/>
          </a:prstGeom>
          <a:solidFill>
            <a:srgbClr val="F5F2EC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560320" y="5486400"/>
            <a:ext cx="1508760" cy="6217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718096"/>
                </a:solidFill>
                <a:latin typeface="微软雅黑"/>
              </a:rPr>
              <a:t>高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160520" y="5486400"/>
            <a:ext cx="1691640" cy="621792"/>
          </a:xfrm>
          <a:prstGeom prst="rect">
            <a:avLst/>
          </a:prstGeom>
          <a:solidFill>
            <a:srgbClr val="F5F2EC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251960" y="5486400"/>
            <a:ext cx="1508760" cy="6217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718096"/>
                </a:solidFill>
                <a:latin typeface="微软雅黑"/>
              </a:rPr>
              <a:t>高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852160" y="5486400"/>
            <a:ext cx="1691640" cy="621792"/>
          </a:xfrm>
          <a:prstGeom prst="rect">
            <a:avLst/>
          </a:prstGeom>
          <a:solidFill>
            <a:srgbClr val="F5F2EC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0" y="5486400"/>
            <a:ext cx="1508760" cy="6217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718096"/>
                </a:solidFill>
                <a:latin typeface="微软雅黑"/>
              </a:rPr>
              <a:t>高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543800" y="5486400"/>
            <a:ext cx="1691640" cy="621792"/>
          </a:xfrm>
          <a:prstGeom prst="rect">
            <a:avLst/>
          </a:prstGeom>
          <a:solidFill>
            <a:srgbClr val="F5F2EC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635240" y="5486400"/>
            <a:ext cx="1508760" cy="6217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718096"/>
                </a:solidFill>
                <a:latin typeface="微软雅黑"/>
              </a:rPr>
              <a:t>低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235440" y="5486400"/>
            <a:ext cx="2468880" cy="621792"/>
          </a:xfrm>
          <a:prstGeom prst="rect">
            <a:avLst/>
          </a:prstGeom>
          <a:solidFill>
            <a:srgbClr val="FAF0EC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326880" y="5486400"/>
            <a:ext cx="2286000" cy="6217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B8232F"/>
                </a:solidFill>
                <a:latin typeface="微软雅黑"/>
              </a:rPr>
              <a:t>✓ SaaS 标准化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微软雅黑"/>
              </a:rPr>
              <a:t>HENAN-ROADS · Investor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718096"/>
                </a:solidFill>
                <a:latin typeface="微软雅黑"/>
              </a:rPr>
              <a:t>14 / 18</a:t>
            </a:r>
          </a:p>
        </p:txBody>
      </p:sp>
      <p:sp>
        <p:nvSpPr>
          <p:cNvPr id="5" name="Oval 4"/>
          <p:cNvSpPr/>
          <p:nvPr/>
        </p:nvSpPr>
        <p:spPr>
          <a:xfrm>
            <a:off x="182880" y="292608"/>
            <a:ext cx="109728" cy="109728"/>
          </a:xfrm>
          <a:prstGeom prst="ellipse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B8232F"/>
                </a:solidFill>
                <a:latin typeface="微软雅黑"/>
              </a:rPr>
              <a:t>护城河 · MOAT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微软雅黑"/>
              </a:rPr>
              <a:t>5 重护城河 · 学术 IP + 数据 + 关系 + 标准 + 网络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457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874519"/>
            <a:ext cx="21762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B82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2176272" cy="365760"/>
          </a:xfrm>
          <a:prstGeom prst="rect">
            <a:avLst/>
          </a:prstGeom>
          <a:solidFill>
            <a:srgbClr val="B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74519"/>
            <a:ext cx="2176272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MOAT 01</a:t>
            </a:r>
          </a:p>
        </p:txBody>
      </p:sp>
      <p:sp>
        <p:nvSpPr>
          <p:cNvPr id="12" name="Oval 11"/>
          <p:cNvSpPr/>
          <p:nvPr/>
        </p:nvSpPr>
        <p:spPr>
          <a:xfrm>
            <a:off x="996696" y="2651759"/>
            <a:ext cx="1097280" cy="1097280"/>
          </a:xfrm>
          <a:prstGeom prst="ellipse">
            <a:avLst/>
          </a:prstGeom>
          <a:solidFill>
            <a:srgbClr val="B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2651759"/>
            <a:ext cx="1097280" cy="10972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77639"/>
            <a:ext cx="2176272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800" b="1">
                <a:solidFill>
                  <a:srgbClr val="1E3A5F"/>
                </a:solidFill>
                <a:latin typeface="微软雅黑"/>
              </a:rPr>
              <a:t>学术 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71999"/>
            <a:ext cx="1810512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>
                <a:solidFill>
                  <a:srgbClr val="1A202C"/>
                </a:solidFill>
                <a:latin typeface="微软雅黑"/>
              </a:rPr>
              <a:t>史文中 PolyU 5 年独家 ISUI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71015" y="5257799"/>
            <a:ext cx="548640" cy="18288"/>
          </a:xfrm>
          <a:prstGeom prst="rect">
            <a:avLst/>
          </a:prstGeom>
          <a:solidFill>
            <a:srgbClr val="B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394959"/>
            <a:ext cx="1810512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B8232F"/>
                </a:solidFill>
                <a:latin typeface="微软雅黑"/>
              </a:rPr>
              <a:t>1-3 年内不可复制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24912" y="1874519"/>
            <a:ext cx="21762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24912" y="1874519"/>
            <a:ext cx="2176272" cy="3657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24912" y="1874519"/>
            <a:ext cx="2176272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MOAT 02</a:t>
            </a:r>
          </a:p>
        </p:txBody>
      </p:sp>
      <p:sp>
        <p:nvSpPr>
          <p:cNvPr id="21" name="Oval 20"/>
          <p:cNvSpPr/>
          <p:nvPr/>
        </p:nvSpPr>
        <p:spPr>
          <a:xfrm>
            <a:off x="3264408" y="2651759"/>
            <a:ext cx="1097280" cy="109728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64408" y="2651759"/>
            <a:ext cx="1097280" cy="10972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24912" y="3977639"/>
            <a:ext cx="2176272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800" b="1">
                <a:solidFill>
                  <a:srgbClr val="1E3A5F"/>
                </a:solidFill>
                <a:latin typeface="微软雅黑"/>
              </a:rPr>
              <a:t>数据网络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7792" y="4571999"/>
            <a:ext cx="1810512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>
                <a:solidFill>
                  <a:srgbClr val="1A202C"/>
                </a:solidFill>
                <a:latin typeface="微软雅黑"/>
              </a:rPr>
              <a:t>客户越多 → 模型越准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38727" y="5257799"/>
            <a:ext cx="548640" cy="1828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07792" y="5394959"/>
            <a:ext cx="1810512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1E3A5F"/>
                </a:solidFill>
                <a:latin typeface="微软雅黑"/>
              </a:rPr>
              <a:t>正反馈飞轮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92624" y="1874519"/>
            <a:ext cx="21762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92624" y="1874519"/>
            <a:ext cx="2176272" cy="36576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92624" y="1874519"/>
            <a:ext cx="2176272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MOAT 03</a:t>
            </a:r>
          </a:p>
        </p:txBody>
      </p:sp>
      <p:sp>
        <p:nvSpPr>
          <p:cNvPr id="30" name="Oval 29"/>
          <p:cNvSpPr/>
          <p:nvPr/>
        </p:nvSpPr>
        <p:spPr>
          <a:xfrm>
            <a:off x="5532120" y="2651759"/>
            <a:ext cx="1097280" cy="1097280"/>
          </a:xfrm>
          <a:prstGeom prst="ellipse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32120" y="2651759"/>
            <a:ext cx="1097280" cy="10972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92624" y="3977639"/>
            <a:ext cx="2176272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800" b="1">
                <a:solidFill>
                  <a:srgbClr val="1E3A5F"/>
                </a:solidFill>
                <a:latin typeface="微软雅黑"/>
              </a:rPr>
              <a:t>关系黏性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75504" y="4571999"/>
            <a:ext cx="1810512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>
                <a:solidFill>
                  <a:srgbClr val="1A202C"/>
                </a:solidFill>
                <a:latin typeface="微软雅黑"/>
              </a:rPr>
              <a:t>嵌入决策流程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06439" y="5257799"/>
            <a:ext cx="548640" cy="18288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75504" y="5394959"/>
            <a:ext cx="1810512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C9A063"/>
                </a:solidFill>
                <a:latin typeface="微软雅黑"/>
              </a:rPr>
              <a:t>替换成本三重锁定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60336" y="1874519"/>
            <a:ext cx="21762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260336" y="1874519"/>
            <a:ext cx="2176272" cy="365760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60336" y="1874519"/>
            <a:ext cx="2176272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MOAT 04</a:t>
            </a:r>
          </a:p>
        </p:txBody>
      </p:sp>
      <p:sp>
        <p:nvSpPr>
          <p:cNvPr id="39" name="Oval 38"/>
          <p:cNvSpPr/>
          <p:nvPr/>
        </p:nvSpPr>
        <p:spPr>
          <a:xfrm>
            <a:off x="7799832" y="2651759"/>
            <a:ext cx="1097280" cy="1097280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99832" y="2651759"/>
            <a:ext cx="1097280" cy="10972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0336" y="3977639"/>
            <a:ext cx="2176272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800" b="1">
                <a:solidFill>
                  <a:srgbClr val="1E3A5F"/>
                </a:solidFill>
                <a:latin typeface="微软雅黑"/>
              </a:rPr>
              <a:t>标准定义权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43216" y="4571999"/>
            <a:ext cx="1810512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>
                <a:solidFill>
                  <a:srgbClr val="1A202C"/>
                </a:solidFill>
                <a:latin typeface="微软雅黑"/>
              </a:rPr>
              <a:t>成为行业标准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74151" y="5257799"/>
            <a:ext cx="548640" cy="18288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43216" y="5394959"/>
            <a:ext cx="1810512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2F855A"/>
                </a:solidFill>
                <a:latin typeface="微软雅黑"/>
              </a:rPr>
              <a:t>竞品必须授权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28048" y="1874519"/>
            <a:ext cx="21762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805A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528048" y="1874519"/>
            <a:ext cx="2176272" cy="365760"/>
          </a:xfrm>
          <a:prstGeom prst="rect">
            <a:avLst/>
          </a:prstGeom>
          <a:solidFill>
            <a:srgbClr val="805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28048" y="1874519"/>
            <a:ext cx="2176272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MOAT 05</a:t>
            </a:r>
          </a:p>
        </p:txBody>
      </p:sp>
      <p:sp>
        <p:nvSpPr>
          <p:cNvPr id="48" name="Oval 47"/>
          <p:cNvSpPr/>
          <p:nvPr/>
        </p:nvSpPr>
        <p:spPr>
          <a:xfrm>
            <a:off x="10067544" y="2651759"/>
            <a:ext cx="1097280" cy="1097280"/>
          </a:xfrm>
          <a:prstGeom prst="ellipse">
            <a:avLst/>
          </a:prstGeom>
          <a:solidFill>
            <a:srgbClr val="805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67544" y="2651759"/>
            <a:ext cx="1097280" cy="10972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28048" y="3977639"/>
            <a:ext cx="2176272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800" b="1">
                <a:solidFill>
                  <a:srgbClr val="1E3A5F"/>
                </a:solidFill>
                <a:latin typeface="微软雅黑"/>
              </a:rPr>
              <a:t>工作坊网络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10928" y="4571999"/>
            <a:ext cx="1810512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>
                <a:solidFill>
                  <a:srgbClr val="1A202C"/>
                </a:solidFill>
                <a:latin typeface="微软雅黑"/>
              </a:rPr>
              <a:t>5 万+ 治理推演师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341863" y="5257799"/>
            <a:ext cx="548640" cy="18288"/>
          </a:xfrm>
          <a:prstGeom prst="rect">
            <a:avLst/>
          </a:prstGeom>
          <a:solidFill>
            <a:srgbClr val="805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10928" y="5394959"/>
            <a:ext cx="1810512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805AD5"/>
                </a:solidFill>
                <a:latin typeface="微软雅黑"/>
              </a:rPr>
              <a:t>反哺市场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微软雅黑"/>
              </a:rPr>
              <a:t>HENAN-ROADS · Investor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718096"/>
                </a:solidFill>
                <a:latin typeface="微软雅黑"/>
              </a:rPr>
              <a:t>15 / 18</a:t>
            </a:r>
          </a:p>
        </p:txBody>
      </p:sp>
      <p:sp>
        <p:nvSpPr>
          <p:cNvPr id="5" name="Oval 4"/>
          <p:cNvSpPr/>
          <p:nvPr/>
        </p:nvSpPr>
        <p:spPr>
          <a:xfrm>
            <a:off x="182880" y="292608"/>
            <a:ext cx="109728" cy="109728"/>
          </a:xfrm>
          <a:prstGeom prst="ellipse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B8232F"/>
                </a:solidFill>
                <a:latin typeface="微软雅黑"/>
              </a:rPr>
              <a:t>财务 · FINANCIALS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微软雅黑"/>
              </a:rPr>
              <a:t>5 年财务 · Y1 800 万 → Y5 5 亿 · 净利率 26%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457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162337"/>
            <a:ext cx="1645920" cy="49743"/>
          </a:xfrm>
          <a:prstGeom prst="rect">
            <a:avLst/>
          </a:prstGeom>
          <a:solidFill>
            <a:srgbClr val="B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705137"/>
            <a:ext cx="16459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800" b="1">
                <a:solidFill>
                  <a:srgbClr val="B8232F"/>
                </a:solidFill>
                <a:latin typeface="Georgia"/>
              </a:rPr>
              <a:t>800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97745"/>
            <a:ext cx="16459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0">
                <a:solidFill>
                  <a:srgbClr val="718096"/>
                </a:solidFill>
                <a:latin typeface="微软雅黑"/>
              </a:rPr>
              <a:t>万元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57800"/>
            <a:ext cx="16459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微软雅黑"/>
              </a:rPr>
              <a:t>Y1
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806440"/>
            <a:ext cx="1645920" cy="36576"/>
          </a:xfrm>
          <a:prstGeom prst="rect">
            <a:avLst/>
          </a:prstGeom>
          <a:solidFill>
            <a:srgbClr val="B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64592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微软雅黑"/>
              </a:rPr>
              <a:t>净利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172200"/>
            <a:ext cx="16459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C53030"/>
                </a:solidFill>
                <a:latin typeface="微软雅黑"/>
              </a:rPr>
              <a:t>-400 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4963364"/>
            <a:ext cx="1645920" cy="248716"/>
          </a:xfrm>
          <a:prstGeom prst="rect">
            <a:avLst/>
          </a:prstGeom>
          <a:solidFill>
            <a:srgbClr val="B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4506164"/>
            <a:ext cx="16459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800" b="1">
                <a:solidFill>
                  <a:srgbClr val="B8232F"/>
                </a:solidFill>
                <a:latin typeface="Georgia"/>
              </a:rPr>
              <a:t>4,000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798772"/>
            <a:ext cx="16459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0">
                <a:solidFill>
                  <a:srgbClr val="718096"/>
                </a:solidFill>
                <a:latin typeface="微软雅黑"/>
              </a:rPr>
              <a:t>万元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5257800"/>
            <a:ext cx="16459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微软雅黑"/>
              </a:rPr>
              <a:t>Y2
2027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5806440"/>
            <a:ext cx="1645920" cy="36576"/>
          </a:xfrm>
          <a:prstGeom prst="rect">
            <a:avLst/>
          </a:prstGeom>
          <a:solidFill>
            <a:srgbClr val="B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5897880"/>
            <a:ext cx="164592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微软雅黑"/>
              </a:rPr>
              <a:t>净利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6172200"/>
            <a:ext cx="16459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2F855A"/>
                </a:solidFill>
                <a:latin typeface="微软雅黑"/>
              </a:rPr>
              <a:t>+225 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80" y="4465930"/>
            <a:ext cx="1645920" cy="74615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0" y="4008730"/>
            <a:ext cx="16459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800" b="1">
                <a:solidFill>
                  <a:srgbClr val="1E3A5F"/>
                </a:solidFill>
                <a:latin typeface="Georgia"/>
              </a:rPr>
              <a:t>12,000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4301338"/>
            <a:ext cx="16459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0">
                <a:solidFill>
                  <a:srgbClr val="718096"/>
                </a:solidFill>
                <a:latin typeface="微软雅黑"/>
              </a:rPr>
              <a:t>万元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5257800"/>
            <a:ext cx="16459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微软雅黑"/>
              </a:rPr>
              <a:t>Y3
2028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2080" y="5806440"/>
            <a:ext cx="1645920" cy="3657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5897880"/>
            <a:ext cx="164592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微软雅黑"/>
              </a:rPr>
              <a:t>净利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6172200"/>
            <a:ext cx="16459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2F855A"/>
                </a:solidFill>
                <a:latin typeface="微软雅黑"/>
              </a:rPr>
              <a:t>+2,475 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79" y="3626511"/>
            <a:ext cx="1645920" cy="1585569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79" y="3169311"/>
            <a:ext cx="16459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800" b="1">
                <a:solidFill>
                  <a:srgbClr val="1E3A5F"/>
                </a:solidFill>
                <a:latin typeface="Georgia"/>
              </a:rPr>
              <a:t>25,500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461919"/>
            <a:ext cx="16459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0">
                <a:solidFill>
                  <a:srgbClr val="718096"/>
                </a:solidFill>
                <a:latin typeface="微软雅黑"/>
              </a:rPr>
              <a:t>万元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5257800"/>
            <a:ext cx="16459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微软雅黑"/>
              </a:rPr>
              <a:t>Y4
2029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79" y="5806440"/>
            <a:ext cx="1645920" cy="3657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79" y="5897880"/>
            <a:ext cx="164592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微软雅黑"/>
              </a:rPr>
              <a:t>净利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6172200"/>
            <a:ext cx="16459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2F855A"/>
                </a:solidFill>
                <a:latin typeface="微软雅黑"/>
              </a:rPr>
              <a:t>+6,150 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84080" y="2103120"/>
            <a:ext cx="1645920" cy="310896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84080" y="1645920"/>
            <a:ext cx="16459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800" b="1">
                <a:solidFill>
                  <a:srgbClr val="C9A063"/>
                </a:solidFill>
                <a:latin typeface="Georgia"/>
              </a:rPr>
              <a:t>50,000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1938528"/>
            <a:ext cx="16459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0">
                <a:solidFill>
                  <a:srgbClr val="718096"/>
                </a:solidFill>
                <a:latin typeface="微软雅黑"/>
              </a:rPr>
              <a:t>万元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5257800"/>
            <a:ext cx="16459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微软雅黑"/>
              </a:rPr>
              <a:t>Y5
2030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84080" y="5806440"/>
            <a:ext cx="1645920" cy="36576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84080" y="5897880"/>
            <a:ext cx="164592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微软雅黑"/>
              </a:rPr>
              <a:t>净利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0" y="6172200"/>
            <a:ext cx="16459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2F855A"/>
                </a:solidFill>
                <a:latin typeface="微软雅黑"/>
              </a:rPr>
              <a:t>+13,125 万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6400800"/>
            <a:ext cx="11247120" cy="36576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C9A063"/>
                </a:solidFill>
                <a:latin typeface="微软雅黑"/>
              </a:rPr>
              <a:t>Y3 净利率 20.6% · Y5 净利率 26.3% · 单元经济 LTV/CAC = 5x · 续费率 92%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微软雅黑"/>
              </a:rPr>
              <a:t>HENAN-ROADS · Investor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718096"/>
                </a:solidFill>
                <a:latin typeface="微软雅黑"/>
              </a:rPr>
              <a:t>16 / 18</a:t>
            </a:r>
          </a:p>
        </p:txBody>
      </p:sp>
      <p:sp>
        <p:nvSpPr>
          <p:cNvPr id="5" name="Oval 4"/>
          <p:cNvSpPr/>
          <p:nvPr/>
        </p:nvSpPr>
        <p:spPr>
          <a:xfrm>
            <a:off x="182880" y="292608"/>
            <a:ext cx="109728" cy="109728"/>
          </a:xfrm>
          <a:prstGeom prst="ellipse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B8232F"/>
                </a:solidFill>
                <a:latin typeface="微软雅黑"/>
              </a:rPr>
              <a:t>融资 · FUNDING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微软雅黑"/>
              </a:rPr>
              <a:t>三轮融资 8000 万 · 估值 1 亿 → 40 亿+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457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269748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B82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2697480" cy="502920"/>
          </a:xfrm>
          <a:prstGeom prst="rect">
            <a:avLst/>
          </a:prstGeom>
          <a:solidFill>
            <a:srgbClr val="B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269748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Seed 天使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68880"/>
            <a:ext cx="269748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1">
                <a:solidFill>
                  <a:srgbClr val="B8232F"/>
                </a:solidFill>
                <a:latin typeface="微软雅黑"/>
              </a:rPr>
              <a:t>2026 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80360"/>
            <a:ext cx="23317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718096"/>
                </a:solidFill>
                <a:latin typeface="微软雅黑"/>
              </a:rPr>
              <a:t>金额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54680"/>
            <a:ext cx="233172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200" b="1">
                <a:solidFill>
                  <a:srgbClr val="1E3A5F"/>
                </a:solidFill>
                <a:latin typeface="Georgia"/>
              </a:rPr>
              <a:t>1,500 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40480"/>
            <a:ext cx="23317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718096"/>
                </a:solidFill>
                <a:latin typeface="微软雅黑"/>
              </a:rPr>
              <a:t>投前估值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233172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200" b="1">
                <a:solidFill>
                  <a:srgbClr val="B8232F"/>
                </a:solidFill>
                <a:latin typeface="Georgia"/>
              </a:rPr>
              <a:t>1.0 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00600"/>
            <a:ext cx="23317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718096"/>
                </a:solidFill>
                <a:latin typeface="微软雅黑"/>
              </a:rPr>
              <a:t>释放股权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74920"/>
            <a:ext cx="23317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800" b="1">
                <a:solidFill>
                  <a:srgbClr val="B8232F"/>
                </a:solidFill>
                <a:latin typeface="微软雅黑"/>
              </a:rPr>
              <a:t>13%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623560"/>
            <a:ext cx="1965960" cy="18288"/>
          </a:xfrm>
          <a:prstGeom prst="rect">
            <a:avLst/>
          </a:prstGeom>
          <a:solidFill>
            <a:srgbClr val="B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760720"/>
            <a:ext cx="233172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0">
                <a:solidFill>
                  <a:srgbClr val="1A202C"/>
                </a:solidFill>
                <a:latin typeface="微软雅黑"/>
              </a:rPr>
              <a:t>产品 50% · 团队 30% · 政府 20%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64992" y="1828800"/>
            <a:ext cx="269748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64992" y="1828800"/>
            <a:ext cx="269748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64992" y="1828800"/>
            <a:ext cx="269748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A 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64992" y="2468880"/>
            <a:ext cx="269748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1">
                <a:solidFill>
                  <a:srgbClr val="1E3A5F"/>
                </a:solidFill>
                <a:latin typeface="微软雅黑"/>
              </a:rPr>
              <a:t>2027 Q3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2880360"/>
            <a:ext cx="23317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718096"/>
                </a:solidFill>
                <a:latin typeface="微软雅黑"/>
              </a:rPr>
              <a:t>金额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47872" y="3154680"/>
            <a:ext cx="233172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200" b="1">
                <a:solidFill>
                  <a:srgbClr val="1E3A5F"/>
                </a:solidFill>
                <a:latin typeface="Georgia"/>
              </a:rPr>
              <a:t>5,000 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7872" y="3840480"/>
            <a:ext cx="23317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718096"/>
                </a:solidFill>
                <a:latin typeface="微软雅黑"/>
              </a:rPr>
              <a:t>投前估值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47872" y="4114800"/>
            <a:ext cx="233172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200" b="1">
                <a:solidFill>
                  <a:srgbClr val="B8232F"/>
                </a:solidFill>
                <a:latin typeface="Georgia"/>
              </a:rPr>
              <a:t>3.0 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47872" y="4800600"/>
            <a:ext cx="23317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718096"/>
                </a:solidFill>
                <a:latin typeface="微软雅黑"/>
              </a:rPr>
              <a:t>释放股权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47872" y="5074920"/>
            <a:ext cx="23317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800" b="1">
                <a:solidFill>
                  <a:srgbClr val="1E3A5F"/>
                </a:solidFill>
                <a:latin typeface="微软雅黑"/>
              </a:rPr>
              <a:t>14%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30752" y="5623560"/>
            <a:ext cx="1965960" cy="1828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47872" y="5760720"/>
            <a:ext cx="233172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0">
                <a:solidFill>
                  <a:srgbClr val="1A202C"/>
                </a:solidFill>
                <a:latin typeface="微软雅黑"/>
              </a:rPr>
              <a:t>全国销售网（华东/华北/华南）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72784" y="1828800"/>
            <a:ext cx="269748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72784" y="1828800"/>
            <a:ext cx="2697480" cy="5029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72784" y="1828800"/>
            <a:ext cx="269748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B 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72784" y="2468880"/>
            <a:ext cx="269748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1">
                <a:solidFill>
                  <a:srgbClr val="C9A063"/>
                </a:solidFill>
                <a:latin typeface="微软雅黑"/>
              </a:rPr>
              <a:t>2028 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55664" y="2880360"/>
            <a:ext cx="23317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718096"/>
                </a:solidFill>
                <a:latin typeface="微软雅黑"/>
              </a:rPr>
              <a:t>金额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5664" y="3154680"/>
            <a:ext cx="233172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200" b="1">
                <a:solidFill>
                  <a:srgbClr val="1E3A5F"/>
                </a:solidFill>
                <a:latin typeface="Georgia"/>
              </a:rPr>
              <a:t>1.5 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55664" y="3840480"/>
            <a:ext cx="23317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718096"/>
                </a:solidFill>
                <a:latin typeface="微软雅黑"/>
              </a:rPr>
              <a:t>投前估值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55664" y="4114800"/>
            <a:ext cx="233172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200" b="1">
                <a:solidFill>
                  <a:srgbClr val="B8232F"/>
                </a:solidFill>
                <a:latin typeface="Georgia"/>
              </a:rPr>
              <a:t>10 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55664" y="4800600"/>
            <a:ext cx="23317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718096"/>
                </a:solidFill>
                <a:latin typeface="微软雅黑"/>
              </a:rPr>
              <a:t>释放股权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55664" y="5074920"/>
            <a:ext cx="23317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800" b="1">
                <a:solidFill>
                  <a:srgbClr val="C9A063"/>
                </a:solidFill>
                <a:latin typeface="微软雅黑"/>
              </a:rPr>
              <a:t>13%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38544" y="5623560"/>
            <a:ext cx="1965960" cy="18288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55664" y="5760720"/>
            <a:ext cx="233172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0">
                <a:solidFill>
                  <a:srgbClr val="1A202C"/>
                </a:solidFill>
                <a:latin typeface="微软雅黑"/>
              </a:rPr>
              <a:t>数据中台 + 国际化（一带一路）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80576" y="1828800"/>
            <a:ext cx="269748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80576" y="1828800"/>
            <a:ext cx="2697480" cy="502920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80576" y="1828800"/>
            <a:ext cx="269748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IPO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0576" y="2468880"/>
            <a:ext cx="269748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1">
                <a:solidFill>
                  <a:srgbClr val="2F855A"/>
                </a:solidFill>
                <a:latin typeface="微软雅黑"/>
              </a:rPr>
              <a:t>2030-2031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63456" y="2880360"/>
            <a:ext cx="23317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718096"/>
                </a:solidFill>
                <a:latin typeface="微软雅黑"/>
              </a:rPr>
              <a:t>金额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63456" y="3154680"/>
            <a:ext cx="233172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200" b="1">
                <a:solidFill>
                  <a:srgbClr val="1E3A5F"/>
                </a:solidFill>
                <a:latin typeface="Georgia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63456" y="3840480"/>
            <a:ext cx="23317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718096"/>
                </a:solidFill>
                <a:latin typeface="微软雅黑"/>
              </a:rPr>
              <a:t>投前估值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63456" y="4114800"/>
            <a:ext cx="233172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200" b="1">
                <a:solidFill>
                  <a:srgbClr val="B8232F"/>
                </a:solidFill>
                <a:latin typeface="Georgia"/>
              </a:rPr>
              <a:t>≥40 亿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63456" y="4800600"/>
            <a:ext cx="23317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718096"/>
                </a:solidFill>
                <a:latin typeface="微软雅黑"/>
              </a:rPr>
              <a:t>释放股权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63456" y="5074920"/>
            <a:ext cx="23317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800" b="1">
                <a:solidFill>
                  <a:srgbClr val="2F855A"/>
                </a:solidFill>
                <a:latin typeface="微软雅黑"/>
              </a:rPr>
              <a:t>公开 25%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46336" y="5623560"/>
            <a:ext cx="1965960" cy="18288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63456" y="5760720"/>
            <a:ext cx="233172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0">
                <a:solidFill>
                  <a:srgbClr val="1A202C"/>
                </a:solidFill>
                <a:latin typeface="微软雅黑"/>
              </a:rPr>
              <a:t>创业板 / 科创板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微软雅黑"/>
              </a:rPr>
              <a:t>HENAN-ROADS · Investor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718096"/>
                </a:solidFill>
                <a:latin typeface="微软雅黑"/>
              </a:rPr>
              <a:t>17 / 18</a:t>
            </a:r>
          </a:p>
        </p:txBody>
      </p:sp>
      <p:sp>
        <p:nvSpPr>
          <p:cNvPr id="5" name="Oval 4"/>
          <p:cNvSpPr/>
          <p:nvPr/>
        </p:nvSpPr>
        <p:spPr>
          <a:xfrm>
            <a:off x="182880" y="292608"/>
            <a:ext cx="109728" cy="109728"/>
          </a:xfrm>
          <a:prstGeom prst="ellipse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B8232F"/>
                </a:solidFill>
                <a:latin typeface="微软雅黑"/>
              </a:rPr>
              <a:t>团队 ·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微软雅黑"/>
              </a:rPr>
              <a:t>学术 IP 已锁定 · 5 个核心岗 · Seed 后启动招募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457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5029200" cy="448056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46634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C9A063"/>
                </a:solidFill>
                <a:latin typeface="微软雅黑"/>
              </a:rPr>
              <a:t>学术顾问 · 已锁定 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466344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史文中 教授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46634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C9A063"/>
                </a:solidFill>
                <a:latin typeface="微软雅黑"/>
              </a:rPr>
              <a:t>Prof. Wenzhong SHI · PolyU SCRI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520440"/>
            <a:ext cx="4663440" cy="18288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03320"/>
            <a:ext cx="46634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✦  香港理工大学讲座教授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46634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✦  智慧城市研究院主任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26280"/>
            <a:ext cx="46634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✦  ISPRS 王之卓奖（终身成就）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37760"/>
            <a:ext cx="46634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✦  ISUI 智慧城市指数原创者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49240"/>
            <a:ext cx="46634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✦  Springer《Urban Informatics》主编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760720"/>
            <a:ext cx="46634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✦  SCI 论文 400+ · 引用 25000+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0" y="1828800"/>
            <a:ext cx="59436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720" y="1828800"/>
            <a:ext cx="109728" cy="777240"/>
          </a:xfrm>
          <a:prstGeom prst="rect">
            <a:avLst/>
          </a:prstGeom>
          <a:solidFill>
            <a:srgbClr val="B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1920240"/>
            <a:ext cx="137160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  <a:latin typeface="微软雅黑"/>
              </a:rPr>
              <a:t>CEO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1920240"/>
            <a:ext cx="274320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  <a:latin typeface="微软雅黑"/>
              </a:rPr>
              <a:t>公管博士 + 厅局级干部资源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24160" y="1993392"/>
            <a:ext cx="1188720" cy="457200"/>
          </a:xfrm>
          <a:prstGeom prst="roundRect">
            <a:avLst>
              <a:gd name="adj" fmla="val 6000"/>
            </a:avLst>
          </a:prstGeom>
          <a:solidFill>
            <a:srgbClr val="B8232F"/>
          </a:solidFill>
          <a:ln w="6350">
            <a:solidFill>
              <a:srgbClr val="B82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4160" y="1993392"/>
            <a:ext cx="11887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战略人选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720" y="2697480"/>
            <a:ext cx="59436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60720" y="2697480"/>
            <a:ext cx="109728" cy="7772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2788920"/>
            <a:ext cx="137160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  <a:latin typeface="微软雅黑"/>
              </a:rPr>
              <a:t>CTO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2788920"/>
            <a:ext cx="274320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  <a:latin typeface="微软雅黑"/>
              </a:rPr>
              <a:t>系统动力学 / AI 工程化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24160" y="2862072"/>
            <a:ext cx="1188720" cy="45720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0" y="2862072"/>
            <a:ext cx="11887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Seed 后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60720" y="3566160"/>
            <a:ext cx="59436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60720" y="3566160"/>
            <a:ext cx="109728" cy="77724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3657600"/>
            <a:ext cx="137160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  <a:latin typeface="微软雅黑"/>
              </a:rPr>
              <a:t>首席科学家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3657600"/>
            <a:ext cx="274320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  <a:latin typeface="微软雅黑"/>
              </a:rPr>
              <a:t>城市信息学 / 政管量化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24160" y="3730752"/>
            <a:ext cx="1188720" cy="457200"/>
          </a:xfrm>
          <a:prstGeom prst="roundRect">
            <a:avLst>
              <a:gd name="adj" fmla="val 6000"/>
            </a:avLst>
          </a:prstGeom>
          <a:solidFill>
            <a:srgbClr val="C9A063"/>
          </a:solidFill>
          <a:ln w="635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24160" y="3730752"/>
            <a:ext cx="11887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学术联合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60720" y="4434839"/>
            <a:ext cx="59436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60720" y="4434839"/>
            <a:ext cx="109728" cy="777240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35040" y="4526279"/>
            <a:ext cx="137160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  <a:latin typeface="微软雅黑"/>
              </a:rPr>
              <a:t>COO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4526279"/>
            <a:ext cx="274320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  <a:latin typeface="微软雅黑"/>
              </a:rPr>
              <a:t>政府关系 + 智慧城市集成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24160" y="4599431"/>
            <a:ext cx="1188720" cy="457200"/>
          </a:xfrm>
          <a:prstGeom prst="roundRect">
            <a:avLst>
              <a:gd name="adj" fmla="val 6000"/>
            </a:avLst>
          </a:prstGeom>
          <a:solidFill>
            <a:srgbClr val="2F855A"/>
          </a:solidFill>
          <a:ln w="63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24160" y="4599431"/>
            <a:ext cx="11887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Seed 后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60720" y="5303520"/>
            <a:ext cx="59436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760720" y="5303520"/>
            <a:ext cx="109728" cy="777240"/>
          </a:xfrm>
          <a:prstGeom prst="rect">
            <a:avLst/>
          </a:prstGeom>
          <a:solidFill>
            <a:srgbClr val="805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35040" y="5394960"/>
            <a:ext cx="137160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  <a:latin typeface="微软雅黑"/>
              </a:rPr>
              <a:t>CFO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89520" y="5394960"/>
            <a:ext cx="274320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  <a:latin typeface="微软雅黑"/>
              </a:rPr>
              <a:t>投融资 + 双币基金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424160" y="5468112"/>
            <a:ext cx="1188720" cy="457200"/>
          </a:xfrm>
          <a:prstGeom prst="roundRect">
            <a:avLst>
              <a:gd name="adj" fmla="val 6000"/>
            </a:avLst>
          </a:prstGeom>
          <a:solidFill>
            <a:srgbClr val="805AD5"/>
          </a:solidFill>
          <a:ln w="6350">
            <a:solidFill>
              <a:srgbClr val="805A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424160" y="5468112"/>
            <a:ext cx="11887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A 轮前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微软雅黑"/>
              </a:rPr>
              <a:t>HENAN-ROADS · 让政府决策有沙盘可推演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718096"/>
                </a:solidFill>
                <a:latin typeface="微软雅黑"/>
              </a:rPr>
              <a:t>18 / 18</a:t>
            </a:r>
          </a:p>
        </p:txBody>
      </p:sp>
      <p:sp>
        <p:nvSpPr>
          <p:cNvPr id="5" name="Oval 4"/>
          <p:cNvSpPr/>
          <p:nvPr/>
        </p:nvSpPr>
        <p:spPr>
          <a:xfrm>
            <a:off x="182880" y="292608"/>
            <a:ext cx="109728" cy="109728"/>
          </a:xfrm>
          <a:prstGeom prst="ellipse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548640"/>
            <a:ext cx="36576" cy="57607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12880" y="548640"/>
            <a:ext cx="36576" cy="57607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371600"/>
            <a:ext cx="12191695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1">
                <a:solidFill>
                  <a:srgbClr val="C9A063"/>
                </a:solidFill>
                <a:latin typeface="微软雅黑"/>
              </a:rPr>
              <a:t>投资人邀约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  <a:latin typeface="Georgia"/>
              </a:rPr>
              <a:t>Seed Round  ·  1,500 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788920"/>
            <a:ext cx="12191695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800" b="0">
                <a:solidFill>
                  <a:srgbClr val="C9A063"/>
                </a:solidFill>
                <a:latin typeface="微软雅黑"/>
              </a:rPr>
              <a:t>投前估值 1 亿  ·  释放 13% 股权  ·  18 个月跑道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931920"/>
            <a:ext cx="2743200" cy="1280160"/>
          </a:xfrm>
          <a:prstGeom prst="roundRect">
            <a:avLst>
              <a:gd name="adj" fmla="val 6000"/>
            </a:avLst>
          </a:prstGeom>
          <a:solidFill>
            <a:srgbClr val="142A47"/>
          </a:solidFill>
          <a:ln w="635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69080"/>
            <a:ext cx="27432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3200" b="1">
                <a:solidFill>
                  <a:srgbClr val="C9A063"/>
                </a:solidFill>
                <a:latin typeface="Georgia"/>
              </a:rPr>
              <a:t>3 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709160"/>
            <a:ext cx="274320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标杆客户落地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3931920"/>
            <a:ext cx="2743200" cy="1280160"/>
          </a:xfrm>
          <a:prstGeom prst="roundRect">
            <a:avLst>
              <a:gd name="adj" fmla="val 6000"/>
            </a:avLst>
          </a:prstGeom>
          <a:solidFill>
            <a:srgbClr val="142A47"/>
          </a:solidFill>
          <a:ln w="635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4069080"/>
            <a:ext cx="27432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3200" b="1">
                <a:solidFill>
                  <a:srgbClr val="C9A063"/>
                </a:solidFill>
                <a:latin typeface="Georgia"/>
              </a:rPr>
              <a:t>PolyU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709160"/>
            <a:ext cx="274320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联合实验室签约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3931920"/>
            <a:ext cx="2743200" cy="1280160"/>
          </a:xfrm>
          <a:prstGeom prst="roundRect">
            <a:avLst>
              <a:gd name="adj" fmla="val 6000"/>
            </a:avLst>
          </a:prstGeom>
          <a:solidFill>
            <a:srgbClr val="142A47"/>
          </a:solidFill>
          <a:ln w="635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4069080"/>
            <a:ext cx="27432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3200" b="1">
                <a:solidFill>
                  <a:srgbClr val="C9A063"/>
                </a:solidFill>
                <a:latin typeface="Georgia"/>
              </a:rPr>
              <a:t>5 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709160"/>
            <a:ext cx="274320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SCI/SSCI 论文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5577840"/>
            <a:ext cx="8503920" cy="36576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5715000"/>
            <a:ext cx="12191695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把政府决策从「拍脑袋」升级为「沙盘推演」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6172200"/>
            <a:ext cx="12191695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>
                <a:solidFill>
                  <a:srgbClr val="C9A063"/>
                </a:solidFill>
                <a:latin typeface="微软雅黑"/>
              </a:rPr>
              <a:t>联系方式 · gallen666.github.io/henan-governance/  ·  邮箱：daiyile396@gmail.com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